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7.png"/><Relationship Id="rId8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Relationship Id="rId4" Type="http://schemas.openxmlformats.org/officeDocument/2006/relationships/image" Target="../media/image10.jp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0" y="5257800"/>
            <a:ext cx="12188952" cy="73152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FORD CHALLENGE — FIAP 2026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ForwardService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57200" y="20116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Plataforma de Retenção Pós-Venda Ford Brasil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57200" y="26517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Inteligência + Automação + ROI Mensurável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57200" y="365760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Rodrigo Jimenez — RM: 558148          João Victor Franco — RM: 556790</a:t>
            </a:r>
            <a:b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Lucca Borges — RM: 554608             Ruan Melo — RM: 557599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Testing, Compliance &amp; Quality Assurance — Prof. Elias Bernardo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57200" y="5532120"/>
            <a:ext cx="10972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1 — Maio 2026     |     Vídeo Pitch: https://youtu.be/EbFjxzzq1Lw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274320" y="45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274320" y="411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problema exclusivo da Ford Brasil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365760" y="1188720"/>
            <a:ext cx="2468880" cy="128016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365760" y="123444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~12,4M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365760" y="1874519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veículos Ford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circulação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3017520" y="1188720"/>
            <a:ext cx="2468880" cy="128016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3017520" y="123444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3017520" y="1874519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são modelos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descontinuados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669280" y="1188720"/>
            <a:ext cx="2468880" cy="128016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5669280" y="123444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145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5669280" y="1874519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concessionárias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(era 283 em 2021)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8321040" y="1188720"/>
            <a:ext cx="2468880" cy="1280160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8321040" y="123444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~4%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321040" y="1874519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VIN Share — só 4%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 frota usa a rede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365760" y="265176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A Curva da Morte — retenção colapsa a cada revisão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365760" y="3063240"/>
            <a:ext cx="11430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• 1ª revisão: 31% dos VINs retornam   →   2ª: 22%   →   3ª: 15%   →   4ª: 9%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• Cada degrau perde 30–40% dos clientes anteriores  (dado real Ford, 602k eventos)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• Pós-garantia: retenção despenca de 82% para 20–40%  (Cox Automotive 2025)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365760" y="461772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A Ford é a única montadora no Brasil SEM programa de fidelização pré-pago.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365760" y="507492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Cada VIN perdido = receita recorrente de R$ 400–2.000/revisão evaporando para oficinas independentes.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365760" y="557784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7"/>
                </a:solidFill>
                <a:latin typeface="Calibri"/>
                <a:ea typeface="Calibri"/>
                <a:cs typeface="Calibri"/>
                <a:sym typeface="Calibri"/>
              </a:rPr>
              <a:t>CAV: reter = R$ 1–5 | reconquistar = R$ 25–150 | adquirir novo = R$ 80–300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274320" y="45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MERCADO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274320" y="411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Benchmarking — O que o mercado já faz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O padrão-ouro existe — a Ford Brasil ainda não chegou lá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274320" y="1554480"/>
            <a:ext cx="3657600" cy="493776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457200" y="1627632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NADA 20 Groups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(EUA / Brasil via FENABRAVE)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274320" y="2331720"/>
            <a:ext cx="3657600" cy="36576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457200" y="2423160"/>
            <a:ext cx="338328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Grupo de 20 dealers que se comparam em 200+ KPIs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Já opera no Brasil — 52 concessionárias em 3 grupos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Benchmarking financeiro: partes, mão de obra, absorção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ForwardService adiciona: score de churn + ação automática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4160520" y="1554480"/>
            <a:ext cx="3657600" cy="493776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4343400" y="1627632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Nissan Dealer Performance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4160520" y="2331720"/>
            <a:ext cx="3657600" cy="36576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4343400" y="2423160"/>
            <a:ext cx="338328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30 KPIs com gamificação — espadas katana por categoria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Dashboard em tempo real por dealer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Recompensas progressivas por performance de retenção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ForwardService vai além: predição, não só medição</a:t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8046720" y="1554480"/>
            <a:ext cx="3657600" cy="493776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8229600" y="1627632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GM OnStar / Fidelidade Geral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8046720" y="2331720"/>
            <a:ext cx="3657600" cy="36576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8229600" y="2423160"/>
            <a:ext cx="338328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Conectividade veicular com alertas proativos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Recall + manutenção integrados ao app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Previsão de serviço por telemetria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Ford tem 80% da frota SEM telemetria — Fluxo Simplificado resolve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274320" y="45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DIFERENCIAIS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274320" y="411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que a ForwardService é impossível de replicar com CRM genérico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274320" y="1143000"/>
            <a:ext cx="3749039" cy="169164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411479" y="1234440"/>
            <a:ext cx="3520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LN1 — Economia do VIN (LSV)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411479" y="1645920"/>
            <a:ext cx="3520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LSV: Ka ~R$3.000 vs Ranger ~R$22.000.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Leads priorizados por valor real, não volume.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4251959" y="1143000"/>
            <a:ext cx="3749039" cy="169164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4389120" y="1234440"/>
            <a:ext cx="3520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LN2 — Curva da Morte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4389120" y="1645920"/>
            <a:ext cx="3520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Disparo no momento crítico por perfil.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perfis: Fiel · Econômico · Esquecido · Abandono.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8229600" y="1143000"/>
            <a:ext cx="3749039" cy="169164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8366760" y="1234440"/>
            <a:ext cx="3520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LN3 — Rede Invertida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8366760" y="1645920"/>
            <a:ext cx="3520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Mapeia desertos de serviço (VINs sem dealer).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145 dealers vs 521 Fiat — a conta não fecha.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274320" y="3017520"/>
            <a:ext cx="3749039" cy="169164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411479" y="3108960"/>
            <a:ext cx="3520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LN4 — Recall Gateway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411479" y="3520439"/>
            <a:ext cx="3520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3,4M recalls pendentes → porta de entrada.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20–35% aceitam serviços adicionais.</a:t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4251959" y="3017520"/>
            <a:ext cx="3749039" cy="169164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4389120" y="3108960"/>
            <a:ext cx="3520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LN5 — IHC (0–100)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4389120" y="3520439"/>
            <a:ext cx="3520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Índice de Saúde da Concessionária: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VIN Share 25% + Conversão 20% + NPS 15% + ...</a:t>
            </a:r>
            <a:endParaRPr/>
          </a:p>
        </p:txBody>
      </p:sp>
      <p:sp>
        <p:nvSpPr>
          <p:cNvPr id="166" name="Google Shape;166;p16"/>
          <p:cNvSpPr/>
          <p:nvPr/>
        </p:nvSpPr>
        <p:spPr>
          <a:xfrm>
            <a:off x="8229600" y="3017520"/>
            <a:ext cx="3749039" cy="169164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8366760" y="3108960"/>
            <a:ext cx="3520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LN6 — Frota Descontinuada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8366760" y="3520439"/>
            <a:ext cx="3520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80% da frota são Ka/Fiesta/EcoSport.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Segmenta por fase com estratégia específica.</a:t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274320" y="4892040"/>
            <a:ext cx="3749039" cy="169164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411479" y="4983479"/>
            <a:ext cx="3520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LN7 — Closed-Loop ROI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411479" y="5394959"/>
            <a:ext cx="3520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Cada ação rastreada do disparo ao resultado.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R$1 investido → R$300+ por campanha WhatsApp.</a:t>
            </a: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4251959" y="4892040"/>
            <a:ext cx="3749039" cy="169164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>
            <a:off x="4389120" y="4983479"/>
            <a:ext cx="3520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LN8 — Flywheel de Dados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4389120" y="5394959"/>
            <a:ext cx="3520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Mês 1: 70% → Mês 12: 85% → Ano 2: 90%.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Vantagem acumulativa a cada ciclo.</a:t>
            </a: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8229600" y="4892040"/>
            <a:ext cx="3749039" cy="169164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8366760" y="4983479"/>
            <a:ext cx="3520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LN9 — Ponte Serviço-Venda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8366760" y="5394959"/>
            <a:ext cx="3520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Clientes retidos recompram: 74% vs 44%.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LTV de até US$175.000 por cliente.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274320" y="45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ARQUITETURA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274320" y="411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 Técnica + Intelligence Hub</a:t>
            </a: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Princípio SOA: cada caixa tem responsabilidade única e fala só com o portão central (forward-api-java).</a:t>
            </a: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274320" y="1554480"/>
            <a:ext cx="3749039" cy="224028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411479" y="1627632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INTELLIGENCE HUB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411479" y="1938528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forward-ml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(Python · scikit-learn)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411479" y="2514600"/>
            <a:ext cx="3520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K-means · XGBoost · Kaplan-Meier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175k VINs × 20+ features comportamentais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Curva da Morte: 31%→22%→15%→9% (dado real)</a:t>
            </a:r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4251959" y="1554480"/>
            <a:ext cx="3749039" cy="224028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4389120" y="1627632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PORTÃO CENTRAL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4389120" y="1938528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forward-api-java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(Java 17 · Spring Boot 3)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4389120" y="2514600"/>
            <a:ext cx="3520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REST + SOAP (SOA)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JWT/RBAC · Flyway · SpringDoc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Único ponto de entrada — ninguém fala direto com o banco</a:t>
            </a:r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8229600" y="1554480"/>
            <a:ext cx="3749039" cy="224028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8366760" y="1627632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EXPERIENCE LAYER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8366760" y="1938528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forward-mobile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(React Native · Expo)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8366760" y="2514600"/>
            <a:ext cx="3520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Modo Ford (atendente) / Modo Cliente (dono)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Push notification · expo-router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Dual-mode — 1 app, 2 interfaces</a:t>
            </a:r>
            <a:endParaRPr/>
          </a:p>
        </p:txBody>
      </p:sp>
      <p:sp>
        <p:nvSpPr>
          <p:cNvPr id="200" name="Google Shape;200;p17"/>
          <p:cNvSpPr/>
          <p:nvPr/>
        </p:nvSpPr>
        <p:spPr>
          <a:xfrm>
            <a:off x="274320" y="3977639"/>
            <a:ext cx="3749039" cy="224028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411479" y="4050791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PERFORMANCE CONSOLE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411479" y="4361688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forward-web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(SvelteKit)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411479" y="4937759"/>
            <a:ext cx="3520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Cockpit Ford corporativo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KPIs · Closed-Loop ROI · IHC 0-100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Read-only · Chart.js / visx</a:t>
            </a:r>
            <a:endParaRPr/>
          </a:p>
        </p:txBody>
      </p:sp>
      <p:sp>
        <p:nvSpPr>
          <p:cNvPr id="204" name="Google Shape;204;p17"/>
          <p:cNvSpPr/>
          <p:nvPr/>
        </p:nvSpPr>
        <p:spPr>
          <a:xfrm>
            <a:off x="4251959" y="3977639"/>
            <a:ext cx="3749039" cy="224028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4389120" y="4050791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ACTION ENGINE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4389120" y="4361688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n8n · WhatsApp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(self-hosted · Docker)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4389120" y="4937759"/>
            <a:ext cx="3520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Orquestrador de ações automáticas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WhatsApp Business · 97% abertura BR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ROI 300:1 por campanha</a:t>
            </a:r>
            <a:endParaRPr/>
          </a:p>
        </p:txBody>
      </p:sp>
      <p:sp>
        <p:nvSpPr>
          <p:cNvPr id="208" name="Google Shape;208;p17"/>
          <p:cNvSpPr/>
          <p:nvPr/>
        </p:nvSpPr>
        <p:spPr>
          <a:xfrm>
            <a:off x="8229600" y="3977639"/>
            <a:ext cx="3749039" cy="224028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 txBox="1"/>
          <p:nvPr/>
        </p:nvSpPr>
        <p:spPr>
          <a:xfrm>
            <a:off x="8366760" y="4050791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BANCO DE DADOS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8366760" y="4361688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 16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(Azure · Supabase/Neon)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8366760" y="4937759"/>
            <a:ext cx="3520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Fonte da verdade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audit_log · vin_features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Só o Java e o segmentador batch escrevem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274320" y="45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QUALIDADE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274320" y="411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Critérios de Qualidade — Performance · Segurança · Usabilidade</a:t>
            </a:r>
            <a:endParaRPr/>
          </a:p>
        </p:txBody>
      </p:sp>
      <p:sp>
        <p:nvSpPr>
          <p:cNvPr id="220" name="Google Shape;220;p18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274320" y="1143000"/>
            <a:ext cx="3749039" cy="539496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457200" y="12344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274320" y="1691640"/>
            <a:ext cx="3749039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411479" y="184708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Latência API p95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2514600" y="184708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&lt; 300 ms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411479" y="217627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Medido em produção Azure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411479" y="262432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Disponibilidade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2514600" y="262432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≥ 99%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411479" y="29535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Docker + health checks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411479" y="340156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Throughput segmentador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2514600" y="340156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175k VINs/dia</a:t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411479" y="37307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Cron 02h — batch diário</a:t>
            </a:r>
            <a:endParaRPr/>
          </a:p>
        </p:txBody>
      </p:sp>
      <p:sp>
        <p:nvSpPr>
          <p:cNvPr id="233" name="Google Shape;233;p18"/>
          <p:cNvSpPr txBox="1"/>
          <p:nvPr/>
        </p:nvSpPr>
        <p:spPr>
          <a:xfrm>
            <a:off x="411479" y="4178807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Falsos positivos churn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2514600" y="4178807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&lt; 10%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411479" y="450799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Threshold tunable por perfil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411479" y="495604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accuracy (AUC)</a:t>
            </a:r>
            <a:endParaRPr/>
          </a:p>
        </p:txBody>
      </p:sp>
      <p:sp>
        <p:nvSpPr>
          <p:cNvPr id="237" name="Google Shape;237;p18"/>
          <p:cNvSpPr txBox="1"/>
          <p:nvPr/>
        </p:nvSpPr>
        <p:spPr>
          <a:xfrm>
            <a:off x="2514600" y="495604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0,82–0,90</a:t>
            </a:r>
            <a:endParaRPr/>
          </a:p>
        </p:txBody>
      </p:sp>
      <p:sp>
        <p:nvSpPr>
          <p:cNvPr id="238" name="Google Shape;238;p18"/>
          <p:cNvSpPr txBox="1"/>
          <p:nvPr/>
        </p:nvSpPr>
        <p:spPr>
          <a:xfrm>
            <a:off x="411479" y="52852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XGBoost + SHAP interpretável</a:t>
            </a:r>
            <a:endParaRPr/>
          </a:p>
        </p:txBody>
      </p:sp>
      <p:sp>
        <p:nvSpPr>
          <p:cNvPr id="239" name="Google Shape;239;p18"/>
          <p:cNvSpPr/>
          <p:nvPr/>
        </p:nvSpPr>
        <p:spPr>
          <a:xfrm>
            <a:off x="4251959" y="1143000"/>
            <a:ext cx="3749039" cy="539496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4434840" y="12344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SEGURANÇA (CYBER)</a:t>
            </a: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4251959" y="1691640"/>
            <a:ext cx="3749039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 txBox="1"/>
          <p:nvPr/>
        </p:nvSpPr>
        <p:spPr>
          <a:xfrm>
            <a:off x="4389120" y="184708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Autenticação</a:t>
            </a:r>
            <a:endParaRPr/>
          </a:p>
        </p:txBody>
      </p:sp>
      <p:sp>
        <p:nvSpPr>
          <p:cNvPr id="243" name="Google Shape;243;p18"/>
          <p:cNvSpPr txBox="1"/>
          <p:nvPr/>
        </p:nvSpPr>
        <p:spPr>
          <a:xfrm>
            <a:off x="6492240" y="184708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JWT HS256</a:t>
            </a:r>
            <a:endParaRPr/>
          </a:p>
        </p:txBody>
      </p:sp>
      <p:sp>
        <p:nvSpPr>
          <p:cNvPr id="244" name="Google Shape;244;p18"/>
          <p:cNvSpPr txBox="1"/>
          <p:nvPr/>
        </p:nvSpPr>
        <p:spPr>
          <a:xfrm>
            <a:off x="4389120" y="217627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RBAC por role + dealer</a:t>
            </a:r>
            <a:endParaRPr/>
          </a:p>
        </p:txBody>
      </p:sp>
      <p:sp>
        <p:nvSpPr>
          <p:cNvPr id="245" name="Google Shape;245;p18"/>
          <p:cNvSpPr txBox="1"/>
          <p:nvPr/>
        </p:nvSpPr>
        <p:spPr>
          <a:xfrm>
            <a:off x="4389120" y="262432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Dados pessoais</a:t>
            </a:r>
            <a:endParaRPr/>
          </a:p>
        </p:txBody>
      </p:sp>
      <p:sp>
        <p:nvSpPr>
          <p:cNvPr id="246" name="Google Shape;246;p18"/>
          <p:cNvSpPr txBox="1"/>
          <p:nvPr/>
        </p:nvSpPr>
        <p:spPr>
          <a:xfrm>
            <a:off x="6492240" y="262432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Pseudonimizado</a:t>
            </a:r>
            <a:endParaRPr/>
          </a:p>
        </p:txBody>
      </p:sp>
      <p:sp>
        <p:nvSpPr>
          <p:cNvPr id="247" name="Google Shape;247;p18"/>
          <p:cNvSpPr txBox="1"/>
          <p:nvPr/>
        </p:nvSpPr>
        <p:spPr>
          <a:xfrm>
            <a:off x="4389120" y="29535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VIN_Hash SHA1 + salt Ford</a:t>
            </a:r>
            <a:endParaRPr/>
          </a:p>
        </p:txBody>
      </p:sp>
      <p:sp>
        <p:nvSpPr>
          <p:cNvPr id="248" name="Google Shape;248;p18"/>
          <p:cNvSpPr txBox="1"/>
          <p:nvPr/>
        </p:nvSpPr>
        <p:spPr>
          <a:xfrm>
            <a:off x="4389120" y="340156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Comunicação</a:t>
            </a:r>
            <a:endParaRPr/>
          </a:p>
        </p:txBody>
      </p:sp>
      <p:sp>
        <p:nvSpPr>
          <p:cNvPr id="249" name="Google Shape;249;p18"/>
          <p:cNvSpPr txBox="1"/>
          <p:nvPr/>
        </p:nvSpPr>
        <p:spPr>
          <a:xfrm>
            <a:off x="6492240" y="340156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TLS 1.2+</a:t>
            </a:r>
            <a:endParaRPr/>
          </a:p>
        </p:txBody>
      </p:sp>
      <p:sp>
        <p:nvSpPr>
          <p:cNvPr id="250" name="Google Shape;250;p18"/>
          <p:cNvSpPr txBox="1"/>
          <p:nvPr/>
        </p:nvSpPr>
        <p:spPr>
          <a:xfrm>
            <a:off x="4389120" y="37307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HTTPS forçado em toda a infra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4389120" y="4178807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Auditoria</a:t>
            </a:r>
            <a:endParaRPr/>
          </a:p>
        </p:txBody>
      </p:sp>
      <p:sp>
        <p:nvSpPr>
          <p:cNvPr id="252" name="Google Shape;252;p18"/>
          <p:cNvSpPr txBox="1"/>
          <p:nvPr/>
        </p:nvSpPr>
        <p:spPr>
          <a:xfrm>
            <a:off x="6492240" y="4178807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audit_log</a:t>
            </a:r>
            <a:endParaRPr/>
          </a:p>
        </p:txBody>
      </p:sp>
      <p:sp>
        <p:nvSpPr>
          <p:cNvPr id="253" name="Google Shape;253;p18"/>
          <p:cNvSpPr txBox="1"/>
          <p:nvPr/>
        </p:nvSpPr>
        <p:spPr>
          <a:xfrm>
            <a:off x="4389120" y="450799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Trilha de cada acesso/ação</a:t>
            </a:r>
            <a:endParaRPr/>
          </a:p>
        </p:txBody>
      </p:sp>
      <p:sp>
        <p:nvSpPr>
          <p:cNvPr id="254" name="Google Shape;254;p18"/>
          <p:cNvSpPr txBox="1"/>
          <p:nvPr/>
        </p:nvSpPr>
        <p:spPr>
          <a:xfrm>
            <a:off x="4389120" y="495604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Rate limiting</a:t>
            </a:r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6492240" y="495604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Bucket4j</a:t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4389120" y="52852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Por IP + user — anti-DDoS</a:t>
            </a:r>
            <a:endParaRPr/>
          </a:p>
        </p:txBody>
      </p:sp>
      <p:sp>
        <p:nvSpPr>
          <p:cNvPr id="257" name="Google Shape;257;p18"/>
          <p:cNvSpPr/>
          <p:nvPr/>
        </p:nvSpPr>
        <p:spPr>
          <a:xfrm>
            <a:off x="8229600" y="1143000"/>
            <a:ext cx="3749039" cy="5394960"/>
          </a:xfrm>
          <a:prstGeom prst="rect">
            <a:avLst/>
          </a:prstGeom>
          <a:solidFill>
            <a:srgbClr val="0D3B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 txBox="1"/>
          <p:nvPr/>
        </p:nvSpPr>
        <p:spPr>
          <a:xfrm>
            <a:off x="8412480" y="12344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USABILIDADE</a:t>
            </a:r>
            <a:endParaRPr/>
          </a:p>
        </p:txBody>
      </p:sp>
      <p:sp>
        <p:nvSpPr>
          <p:cNvPr id="259" name="Google Shape;259;p18"/>
          <p:cNvSpPr/>
          <p:nvPr/>
        </p:nvSpPr>
        <p:spPr>
          <a:xfrm>
            <a:off x="8229600" y="1691640"/>
            <a:ext cx="3749039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 txBox="1"/>
          <p:nvPr/>
        </p:nvSpPr>
        <p:spPr>
          <a:xfrm>
            <a:off x="8366760" y="184708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NPS alvo (cliente)</a:t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10469880" y="184708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&gt; 50</a:t>
            </a:r>
            <a:endParaRPr/>
          </a:p>
        </p:txBody>
      </p:sp>
      <p:sp>
        <p:nvSpPr>
          <p:cNvPr id="262" name="Google Shape;262;p18"/>
          <p:cNvSpPr txBox="1"/>
          <p:nvPr/>
        </p:nvSpPr>
        <p:spPr>
          <a:xfrm>
            <a:off x="8366760" y="217627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Pesquisa pós-atendimento</a:t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>
            <a:off x="8366760" y="262432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Fluxo simplificado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10469880" y="262432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Ka/EcoSport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8366760" y="29535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80% da frota sem telemetria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8366760" y="340156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Resposta WhatsApp</a:t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10469880" y="340156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&lt; 30s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8366760" y="37307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n8n automático 24/7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8366760" y="4178807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Onboarding atendente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10469880" y="4178807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&lt; 15 min</a:t>
            </a:r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8366760" y="450799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UX dual-mode intuitivo</a:t>
            </a:r>
            <a:endParaRPr/>
          </a:p>
        </p:txBody>
      </p:sp>
      <p:sp>
        <p:nvSpPr>
          <p:cNvPr id="272" name="Google Shape;272;p18"/>
          <p:cNvSpPr txBox="1"/>
          <p:nvPr/>
        </p:nvSpPr>
        <p:spPr>
          <a:xfrm>
            <a:off x="8366760" y="495604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i18n</a:t>
            </a:r>
            <a:endParaRPr/>
          </a:p>
        </p:txBody>
      </p:sp>
      <p:sp>
        <p:nvSpPr>
          <p:cNvPr id="273" name="Google Shape;273;p18"/>
          <p:cNvSpPr txBox="1"/>
          <p:nvPr/>
        </p:nvSpPr>
        <p:spPr>
          <a:xfrm>
            <a:off x="10469880" y="495604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PT-BR + EN</a:t>
            </a:r>
            <a:endParaRPr/>
          </a:p>
        </p:txBody>
      </p:sp>
      <p:sp>
        <p:nvSpPr>
          <p:cNvPr id="274" name="Google Shape;274;p18"/>
          <p:cNvSpPr txBox="1"/>
          <p:nvPr/>
        </p:nvSpPr>
        <p:spPr>
          <a:xfrm>
            <a:off x="8366760" y="52852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Expo i18n desde o dia 1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 txBox="1"/>
          <p:nvPr/>
        </p:nvSpPr>
        <p:spPr>
          <a:xfrm>
            <a:off x="274320" y="45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MÉTRICAS</a:t>
            </a:r>
            <a:endParaRPr/>
          </a:p>
        </p:txBody>
      </p:sp>
      <p:sp>
        <p:nvSpPr>
          <p:cNvPr id="282" name="Google Shape;282;p19"/>
          <p:cNvSpPr txBox="1"/>
          <p:nvPr/>
        </p:nvSpPr>
        <p:spPr>
          <a:xfrm>
            <a:off x="274320" y="411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Métricas de Sucesso — O que medimos</a:t>
            </a:r>
            <a:endParaRPr/>
          </a:p>
        </p:txBody>
      </p:sp>
      <p:sp>
        <p:nvSpPr>
          <p:cNvPr id="283" name="Google Shape;283;p19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ForwardService é mensurável por design — cada real investido tem retorno rastreável (Closed-Loop ROI)</a:t>
            </a:r>
            <a:endParaRPr/>
          </a:p>
        </p:txBody>
      </p:sp>
      <p:sp>
        <p:nvSpPr>
          <p:cNvPr id="285" name="Google Shape;285;p19"/>
          <p:cNvSpPr/>
          <p:nvPr/>
        </p:nvSpPr>
        <p:spPr>
          <a:xfrm>
            <a:off x="274320" y="1554480"/>
            <a:ext cx="5715000" cy="22860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9"/>
          <p:cNvSpPr txBox="1"/>
          <p:nvPr/>
        </p:nvSpPr>
        <p:spPr>
          <a:xfrm>
            <a:off x="457200" y="164592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RETENÇÃO</a:t>
            </a:r>
            <a:endParaRPr/>
          </a:p>
        </p:txBody>
      </p:sp>
      <p:sp>
        <p:nvSpPr>
          <p:cNvPr id="287" name="Google Shape;287;p19"/>
          <p:cNvSpPr/>
          <p:nvPr/>
        </p:nvSpPr>
        <p:spPr>
          <a:xfrm>
            <a:off x="274320" y="2057400"/>
            <a:ext cx="57150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9"/>
          <p:cNvSpPr txBox="1"/>
          <p:nvPr/>
        </p:nvSpPr>
        <p:spPr>
          <a:xfrm>
            <a:off x="457200" y="2148840"/>
            <a:ext cx="53949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VIN Share: 3,5–5% → meta 8–10% em 24 meses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Taxa de retorno pós-1ª revisão: 71% → meta 80%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+5% retenção = +25% a 95% de lucro (Bain)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Contratos Ford Care: retenção 3× (20% → 60%)</a:t>
            </a:r>
            <a:endParaRPr/>
          </a:p>
        </p:txBody>
      </p:sp>
      <p:sp>
        <p:nvSpPr>
          <p:cNvPr id="289" name="Google Shape;289;p19"/>
          <p:cNvSpPr/>
          <p:nvPr/>
        </p:nvSpPr>
        <p:spPr>
          <a:xfrm>
            <a:off x="6217920" y="1554480"/>
            <a:ext cx="5715000" cy="228600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 txBox="1"/>
          <p:nvPr/>
        </p:nvSpPr>
        <p:spPr>
          <a:xfrm>
            <a:off x="6400800" y="164592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NPS &amp; SATISFAÇÃO</a:t>
            </a:r>
            <a:endParaRPr/>
          </a:p>
        </p:txBody>
      </p:sp>
      <p:sp>
        <p:nvSpPr>
          <p:cNvPr id="291" name="Google Shape;291;p19"/>
          <p:cNvSpPr/>
          <p:nvPr/>
        </p:nvSpPr>
        <p:spPr>
          <a:xfrm>
            <a:off x="6217920" y="2057400"/>
            <a:ext cx="57150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6400800" y="2148840"/>
            <a:ext cx="53949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NPS alvo &gt; 50 (benchmark: Tesla 96, Toyota 60)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Tempo de resposta WhatsApp &lt; 30 segundos 24/7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Conversão campanha WhatsApp: 30–45%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Redução de falsos positivos &lt; 10% por perfil</a:t>
            </a:r>
            <a:endParaRPr/>
          </a:p>
        </p:txBody>
      </p:sp>
      <p:sp>
        <p:nvSpPr>
          <p:cNvPr id="293" name="Google Shape;293;p19"/>
          <p:cNvSpPr/>
          <p:nvPr/>
        </p:nvSpPr>
        <p:spPr>
          <a:xfrm>
            <a:off x="274320" y="4023360"/>
            <a:ext cx="5715000" cy="22860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9"/>
          <p:cNvSpPr txBox="1"/>
          <p:nvPr/>
        </p:nvSpPr>
        <p:spPr>
          <a:xfrm>
            <a:off x="457200" y="411480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ROI FINANCEIRO</a:t>
            </a:r>
            <a:endParaRPr/>
          </a:p>
        </p:txBody>
      </p:sp>
      <p:sp>
        <p:nvSpPr>
          <p:cNvPr id="295" name="Google Shape;295;p19"/>
          <p:cNvSpPr/>
          <p:nvPr/>
        </p:nvSpPr>
        <p:spPr>
          <a:xfrm>
            <a:off x="274320" y="4526280"/>
            <a:ext cx="57150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/>
          <p:cNvSpPr txBox="1"/>
          <p:nvPr/>
        </p:nvSpPr>
        <p:spPr>
          <a:xfrm>
            <a:off x="457200" y="4617720"/>
            <a:ext cx="53949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ROI por campanha WhatsApp: 300:1 ou mais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CAV: R$ 1–5 (ativo) vs R$ 25–150 (reconquista)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Ticket médio recall convertido: R$ 750–1.500 extra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49% do lucro bruto dealer vem do pós-venda (NADA)</a:t>
            </a:r>
            <a:endParaRPr/>
          </a:p>
        </p:txBody>
      </p:sp>
      <p:sp>
        <p:nvSpPr>
          <p:cNvPr id="297" name="Google Shape;297;p19"/>
          <p:cNvSpPr/>
          <p:nvPr/>
        </p:nvSpPr>
        <p:spPr>
          <a:xfrm>
            <a:off x="6217920" y="4023360"/>
            <a:ext cx="5715000" cy="228600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 txBox="1"/>
          <p:nvPr/>
        </p:nvSpPr>
        <p:spPr>
          <a:xfrm>
            <a:off x="6400800" y="411480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ML / QUALIDADE</a:t>
            </a:r>
            <a:endParaRPr/>
          </a:p>
        </p:txBody>
      </p:sp>
      <p:sp>
        <p:nvSpPr>
          <p:cNvPr id="299" name="Google Shape;299;p19"/>
          <p:cNvSpPr/>
          <p:nvPr/>
        </p:nvSpPr>
        <p:spPr>
          <a:xfrm>
            <a:off x="6217920" y="4526280"/>
            <a:ext cx="57150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 txBox="1"/>
          <p:nvPr/>
        </p:nvSpPr>
        <p:spPr>
          <a:xfrm>
            <a:off x="6400800" y="4617720"/>
            <a:ext cx="53949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AUC classificador: 0,82–0,90 (XGBoost+SHAP)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Silhouette K-means &gt; 0,4 (k=4 clusters)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Precisão mês 1: 70% → mês 12: 85% → ano 2: 90%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Latência API p95 &lt; 300ms · disponibilidade ≥ 99%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0"/>
          <p:cNvSpPr txBox="1"/>
          <p:nvPr/>
        </p:nvSpPr>
        <p:spPr>
          <a:xfrm>
            <a:off x="274320" y="45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SOLUÇÃO</a:t>
            </a:r>
            <a:endParaRPr/>
          </a:p>
        </p:txBody>
      </p:sp>
      <p:sp>
        <p:nvSpPr>
          <p:cNvPr id="308" name="Google Shape;308;p20"/>
          <p:cNvSpPr txBox="1"/>
          <p:nvPr/>
        </p:nvSpPr>
        <p:spPr>
          <a:xfrm>
            <a:off x="274320" y="411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ForwardService — Os 4 Pilares</a:t>
            </a:r>
            <a:endParaRPr/>
          </a:p>
        </p:txBody>
      </p:sp>
      <p:sp>
        <p:nvSpPr>
          <p:cNvPr id="309" name="Google Shape;309;p20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274320" y="1143000"/>
            <a:ext cx="2651760" cy="50292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 txBox="1"/>
          <p:nvPr/>
        </p:nvSpPr>
        <p:spPr>
          <a:xfrm>
            <a:off x="790797" y="1398425"/>
            <a:ext cx="161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INTELLIGENCE HUB</a:t>
            </a:r>
            <a:endParaRPr sz="1800"/>
          </a:p>
        </p:txBody>
      </p:sp>
      <p:sp>
        <p:nvSpPr>
          <p:cNvPr id="312" name="Google Shape;312;p20"/>
          <p:cNvSpPr/>
          <p:nvPr/>
        </p:nvSpPr>
        <p:spPr>
          <a:xfrm>
            <a:off x="274320" y="1874519"/>
            <a:ext cx="2651760" cy="36576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0"/>
          <p:cNvSpPr txBox="1"/>
          <p:nvPr/>
        </p:nvSpPr>
        <p:spPr>
          <a:xfrm>
            <a:off x="411479" y="1965960"/>
            <a:ext cx="24231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Quem está prestes a sair?</a:t>
            </a:r>
            <a:b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K-means + XGBoost + Survival Analysis</a:t>
            </a:r>
            <a:b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sobre 175k VINs reais Ford BR</a:t>
            </a:r>
            <a:endParaRPr/>
          </a:p>
        </p:txBody>
      </p:sp>
      <p:sp>
        <p:nvSpPr>
          <p:cNvPr id="314" name="Google Shape;314;p20"/>
          <p:cNvSpPr/>
          <p:nvPr/>
        </p:nvSpPr>
        <p:spPr>
          <a:xfrm>
            <a:off x="3291840" y="1143000"/>
            <a:ext cx="2651760" cy="50292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0"/>
          <p:cNvSpPr txBox="1"/>
          <p:nvPr/>
        </p:nvSpPr>
        <p:spPr>
          <a:xfrm>
            <a:off x="3951920" y="1332000"/>
            <a:ext cx="137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ACTION ENGINE</a:t>
            </a:r>
            <a:endParaRPr sz="1700"/>
          </a:p>
        </p:txBody>
      </p:sp>
      <p:sp>
        <p:nvSpPr>
          <p:cNvPr id="316" name="Google Shape;316;p20"/>
          <p:cNvSpPr/>
          <p:nvPr/>
        </p:nvSpPr>
        <p:spPr>
          <a:xfrm>
            <a:off x="3291840" y="1874519"/>
            <a:ext cx="2651760" cy="36576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0"/>
          <p:cNvSpPr txBox="1"/>
          <p:nvPr/>
        </p:nvSpPr>
        <p:spPr>
          <a:xfrm>
            <a:off x="3429000" y="1965960"/>
            <a:ext cx="24231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fazer, agora, automaticamente?</a:t>
            </a:r>
            <a:b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WhatsApp · n8n · Pulse Leads</a:t>
            </a:r>
            <a:b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ROI 300:1 por campanha</a:t>
            </a:r>
            <a:endParaRPr/>
          </a:p>
        </p:txBody>
      </p:sp>
      <p:sp>
        <p:nvSpPr>
          <p:cNvPr id="318" name="Google Shape;318;p20"/>
          <p:cNvSpPr/>
          <p:nvPr/>
        </p:nvSpPr>
        <p:spPr>
          <a:xfrm>
            <a:off x="6263640" y="1143000"/>
            <a:ext cx="2651700" cy="50292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0"/>
          <p:cNvSpPr txBox="1"/>
          <p:nvPr/>
        </p:nvSpPr>
        <p:spPr>
          <a:xfrm>
            <a:off x="6802984" y="1398425"/>
            <a:ext cx="161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EXPERIENCE LAYER</a:t>
            </a:r>
            <a:endParaRPr sz="1700"/>
          </a:p>
        </p:txBody>
      </p:sp>
      <p:sp>
        <p:nvSpPr>
          <p:cNvPr id="320" name="Google Shape;320;p20"/>
          <p:cNvSpPr/>
          <p:nvPr/>
        </p:nvSpPr>
        <p:spPr>
          <a:xfrm>
            <a:off x="6263640" y="1874519"/>
            <a:ext cx="2651760" cy="36576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0"/>
          <p:cNvSpPr txBox="1"/>
          <p:nvPr/>
        </p:nvSpPr>
        <p:spPr>
          <a:xfrm>
            <a:off x="6400800" y="1965960"/>
            <a:ext cx="24231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que o cliente vai querer voltar?</a:t>
            </a:r>
            <a:b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Ford Care (plano pré-pago)</a:t>
            </a:r>
            <a:b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Fluxo Simplificado (Ka/Fiesta/EcoSport)</a:t>
            </a:r>
            <a:endParaRPr/>
          </a:p>
        </p:txBody>
      </p:sp>
      <p:sp>
        <p:nvSpPr>
          <p:cNvPr id="322" name="Google Shape;322;p20"/>
          <p:cNvSpPr/>
          <p:nvPr/>
        </p:nvSpPr>
        <p:spPr>
          <a:xfrm>
            <a:off x="9235440" y="1143000"/>
            <a:ext cx="2651760" cy="50292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0"/>
          <p:cNvSpPr txBox="1"/>
          <p:nvPr/>
        </p:nvSpPr>
        <p:spPr>
          <a:xfrm>
            <a:off x="9395413" y="1331990"/>
            <a:ext cx="2377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PERFORMANCE CONSOLE</a:t>
            </a:r>
            <a:endParaRPr sz="1700"/>
          </a:p>
        </p:txBody>
      </p:sp>
      <p:sp>
        <p:nvSpPr>
          <p:cNvPr id="324" name="Google Shape;324;p20"/>
          <p:cNvSpPr/>
          <p:nvPr/>
        </p:nvSpPr>
        <p:spPr>
          <a:xfrm>
            <a:off x="9235440" y="1874519"/>
            <a:ext cx="2651760" cy="36576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 txBox="1"/>
          <p:nvPr/>
        </p:nvSpPr>
        <p:spPr>
          <a:xfrm>
            <a:off x="9372600" y="1965960"/>
            <a:ext cx="24231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Funcionou? Quanto retornou?</a:t>
            </a:r>
            <a:b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Closed-Loop ROI · IHC 0-100</a:t>
            </a:r>
            <a:b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Flywheel — fica mais inteligente a cada ciclo</a:t>
            </a:r>
            <a:endParaRPr/>
          </a:p>
        </p:txBody>
      </p:sp>
      <p:sp>
        <p:nvSpPr>
          <p:cNvPr id="326" name="Google Shape;326;p20"/>
          <p:cNvSpPr txBox="1"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O fluxo é cíclico — cada ciclo alimenta o próximo com dados melhores (Flywheel).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274320" y="45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NARRATIVA</a:t>
            </a:r>
            <a:endParaRPr/>
          </a:p>
        </p:txBody>
      </p:sp>
      <p:sp>
        <p:nvSpPr>
          <p:cNvPr id="334" name="Google Shape;334;p21"/>
          <p:cNvSpPr txBox="1"/>
          <p:nvPr/>
        </p:nvSpPr>
        <p:spPr>
          <a:xfrm>
            <a:off x="274320" y="411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Um dia no ForwardService — o produto 100% rodando</a:t>
            </a:r>
            <a:endParaRPr/>
          </a:p>
        </p:txBody>
      </p:sp>
      <p:sp>
        <p:nvSpPr>
          <p:cNvPr id="335" name="Google Shape;335;p21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1"/>
          <p:cNvSpPr/>
          <p:nvPr/>
        </p:nvSpPr>
        <p:spPr>
          <a:xfrm>
            <a:off x="274320" y="1143000"/>
            <a:ext cx="3749039" cy="530352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274320" y="1143000"/>
            <a:ext cx="3749039" cy="54864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457200" y="123444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João Silva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 2014 · sumido há 11 meses</a:t>
            </a:r>
            <a:endParaRPr/>
          </a:p>
        </p:txBody>
      </p:sp>
      <p:sp>
        <p:nvSpPr>
          <p:cNvPr id="339" name="Google Shape;339;p21"/>
          <p:cNvSpPr/>
          <p:nvPr/>
        </p:nvSpPr>
        <p:spPr>
          <a:xfrm>
            <a:off x="274320" y="1920240"/>
            <a:ext cx="3749039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457200" y="2029968"/>
            <a:ext cx="347472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02h — Sistema re-etiqueta João: Esquecido, risco 78.</a:t>
            </a:r>
            <a:b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09h12 — WhatsApp automático: '20% off na revisão até sexta.'</a:t>
            </a:r>
            <a:b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09h47 — João responde. Termômetro cai de 78 para 71.</a:t>
            </a:r>
            <a:b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Sexta — Revisão feita. Etiqueta muda para Fiel. Score: 22.</a:t>
            </a:r>
            <a:b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ciclo fechou. O dado alimenta o cérebro.</a:t>
            </a:r>
            <a:endParaRPr/>
          </a:p>
        </p:txBody>
      </p:sp>
      <p:sp>
        <p:nvSpPr>
          <p:cNvPr id="341" name="Google Shape;341;p21"/>
          <p:cNvSpPr/>
          <p:nvPr/>
        </p:nvSpPr>
        <p:spPr>
          <a:xfrm>
            <a:off x="4251959" y="1143000"/>
            <a:ext cx="3749039" cy="530352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1"/>
          <p:cNvSpPr/>
          <p:nvPr/>
        </p:nvSpPr>
        <p:spPr>
          <a:xfrm>
            <a:off x="4251959" y="1143000"/>
            <a:ext cx="3749039" cy="54864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4434840" y="123444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Maria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Atendente · Concessionária Vila Olímpia</a:t>
            </a:r>
            <a:endParaRPr/>
          </a:p>
        </p:txBody>
      </p:sp>
      <p:sp>
        <p:nvSpPr>
          <p:cNvPr id="344" name="Google Shape;344;p21"/>
          <p:cNvSpPr/>
          <p:nvPr/>
        </p:nvSpPr>
        <p:spPr>
          <a:xfrm>
            <a:off x="4251959" y="1920240"/>
            <a:ext cx="3749039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4434840" y="2029968"/>
            <a:ext cx="347472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11h05 — App mobile, Modo Ford.</a:t>
            </a:r>
            <a:b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'João — Esquecido — risco 71 — começou a responder no WhatsApp.'</a:t>
            </a:r>
            <a:b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Maria liga, fecha agendamento pra sexta.</a:t>
            </a:r>
            <a:b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Marca 'agendado' no app. Sistema atualizado.</a:t>
            </a:r>
            <a:b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Uma ação, muitos sistemas informados.</a:t>
            </a:r>
            <a:endParaRPr/>
          </a:p>
        </p:txBody>
      </p:sp>
      <p:sp>
        <p:nvSpPr>
          <p:cNvPr id="346" name="Google Shape;346;p21"/>
          <p:cNvSpPr/>
          <p:nvPr/>
        </p:nvSpPr>
        <p:spPr>
          <a:xfrm>
            <a:off x="8229600" y="1143000"/>
            <a:ext cx="3749039" cy="5303520"/>
          </a:xfrm>
          <a:prstGeom prst="rect">
            <a:avLst/>
          </a:prstGeom>
          <a:solidFill>
            <a:srgbClr val="0D3B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8229600" y="1143000"/>
            <a:ext cx="3749039" cy="54864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8412480" y="123444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Carlos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Diretor Regional Ford</a:t>
            </a:r>
            <a:endParaRPr/>
          </a:p>
        </p:txBody>
      </p:sp>
      <p:sp>
        <p:nvSpPr>
          <p:cNvPr id="349" name="Google Shape;349;p21"/>
          <p:cNvSpPr/>
          <p:nvPr/>
        </p:nvSpPr>
        <p:spPr>
          <a:xfrm>
            <a:off x="8229600" y="1920240"/>
            <a:ext cx="3749039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8412480" y="2029968"/>
            <a:ext cx="347472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18h00 — Painel web, Modo Ford Corporativo.</a:t>
            </a:r>
            <a:b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'47 esquecidos contatados · 22 agendaram · 47% conversão'</a:t>
            </a:r>
            <a:b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'R$ 184 mil em revisão prevista'</a:t>
            </a:r>
            <a:b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'9 dealers acima da meta · 3 abaixo'</a:t>
            </a:r>
            <a:b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Carlos vê a frota inteira, não o João individual.</a:t>
            </a:r>
            <a:endParaRPr/>
          </a:p>
        </p:txBody>
      </p:sp>
      <p:sp>
        <p:nvSpPr>
          <p:cNvPr id="351" name="Google Shape;351;p21"/>
          <p:cNvSpPr txBox="1"/>
          <p:nvPr/>
        </p:nvSpPr>
        <p:spPr>
          <a:xfrm>
            <a:off x="457200" y="64008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"Uma porta, dois lados.  Um app, infinitas conversas."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2"/>
          <p:cNvSpPr txBox="1"/>
          <p:nvPr/>
        </p:nvSpPr>
        <p:spPr>
          <a:xfrm>
            <a:off x="274320" y="45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TOGAF / ARCHI</a:t>
            </a:r>
            <a:endParaRPr/>
          </a:p>
        </p:txBody>
      </p:sp>
      <p:sp>
        <p:nvSpPr>
          <p:cNvPr id="359" name="Google Shape;359;p22"/>
          <p:cNvSpPr txBox="1"/>
          <p:nvPr/>
        </p:nvSpPr>
        <p:spPr>
          <a:xfrm>
            <a:off x="274320" y="411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Arquitetura da Solução — 6 Vistas ArchiMate 3.1</a:t>
            </a:r>
            <a:endParaRPr/>
          </a:p>
        </p:txBody>
      </p:sp>
      <p:sp>
        <p:nvSpPr>
          <p:cNvPr id="360" name="Google Shape;360;p2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365760" y="1024128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Visão · Negócio · Aplicação · Tecnologia · Requisitos de Qualidade · Monitoramento</a:t>
            </a:r>
            <a:endParaRPr/>
          </a:p>
        </p:txBody>
      </p:sp>
      <p:pic>
        <p:nvPicPr>
          <p:cNvPr descr="01_motivation_view.png" id="362" name="Google Shape;36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" y="1417320"/>
            <a:ext cx="3749039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2"/>
          <p:cNvSpPr/>
          <p:nvPr/>
        </p:nvSpPr>
        <p:spPr>
          <a:xfrm>
            <a:off x="91440" y="3547871"/>
            <a:ext cx="3749039" cy="475488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2"/>
          <p:cNvSpPr txBox="1"/>
          <p:nvPr/>
        </p:nvSpPr>
        <p:spPr>
          <a:xfrm>
            <a:off x="164592" y="3566159"/>
            <a:ext cx="3639311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— Motivation</a:t>
            </a:r>
            <a:b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(Drivers, Stakeholders, Goals)</a:t>
            </a:r>
            <a:endParaRPr/>
          </a:p>
        </p:txBody>
      </p:sp>
      <p:pic>
        <p:nvPicPr>
          <p:cNvPr descr="02_business_view.png" id="365" name="Google Shape;36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6511" y="1417320"/>
            <a:ext cx="3749039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2"/>
          <p:cNvSpPr/>
          <p:nvPr/>
        </p:nvSpPr>
        <p:spPr>
          <a:xfrm>
            <a:off x="4096511" y="3547871"/>
            <a:ext cx="3749039" cy="475488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2"/>
          <p:cNvSpPr txBox="1"/>
          <p:nvPr/>
        </p:nvSpPr>
        <p:spPr>
          <a:xfrm>
            <a:off x="4169663" y="3566159"/>
            <a:ext cx="3639311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— Business</a:t>
            </a:r>
            <a:b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(Processo As-Is vs To-Be)</a:t>
            </a:r>
            <a:endParaRPr/>
          </a:p>
        </p:txBody>
      </p:sp>
      <p:pic>
        <p:nvPicPr>
          <p:cNvPr descr="03_application_view.png" id="368" name="Google Shape;36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01583" y="1417320"/>
            <a:ext cx="3749039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2"/>
          <p:cNvSpPr/>
          <p:nvPr/>
        </p:nvSpPr>
        <p:spPr>
          <a:xfrm>
            <a:off x="8101583" y="3547871"/>
            <a:ext cx="3749039" cy="475488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2"/>
          <p:cNvSpPr txBox="1"/>
          <p:nvPr/>
        </p:nvSpPr>
        <p:spPr>
          <a:xfrm>
            <a:off x="8174736" y="3566159"/>
            <a:ext cx="3639311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— Application</a:t>
            </a:r>
            <a:b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(Componentes + Comunicações)</a:t>
            </a:r>
            <a:endParaRPr/>
          </a:p>
        </p:txBody>
      </p:sp>
      <p:pic>
        <p:nvPicPr>
          <p:cNvPr descr="04_technology_view.png" id="371" name="Google Shape;37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" y="4114800"/>
            <a:ext cx="3749039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2"/>
          <p:cNvSpPr/>
          <p:nvPr/>
        </p:nvSpPr>
        <p:spPr>
          <a:xfrm>
            <a:off x="91440" y="6245352"/>
            <a:ext cx="3749039" cy="475488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>
            <a:off x="164592" y="6263640"/>
            <a:ext cx="3639311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— Technology</a:t>
            </a:r>
            <a:b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(Infra: Azure, Docker, TLS)</a:t>
            </a:r>
            <a:endParaRPr/>
          </a:p>
        </p:txBody>
      </p:sp>
      <p:pic>
        <p:nvPicPr>
          <p:cNvPr descr="05_requirements_view.png" id="374" name="Google Shape;37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96511" y="4114800"/>
            <a:ext cx="3749039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2"/>
          <p:cNvSpPr/>
          <p:nvPr/>
        </p:nvSpPr>
        <p:spPr>
          <a:xfrm>
            <a:off x="4096511" y="6245352"/>
            <a:ext cx="3749039" cy="475488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2"/>
          <p:cNvSpPr txBox="1"/>
          <p:nvPr/>
        </p:nvSpPr>
        <p:spPr>
          <a:xfrm>
            <a:off x="4169663" y="6263640"/>
            <a:ext cx="3639311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— Requirements</a:t>
            </a:r>
            <a:b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(Qualidade → Componentes)</a:t>
            </a:r>
            <a:endParaRPr/>
          </a:p>
        </p:txBody>
      </p:sp>
      <p:pic>
        <p:nvPicPr>
          <p:cNvPr descr="06_monitoring_view.png" id="377" name="Google Shape;377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01583" y="4114800"/>
            <a:ext cx="3749039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2"/>
          <p:cNvSpPr/>
          <p:nvPr/>
        </p:nvSpPr>
        <p:spPr>
          <a:xfrm>
            <a:off x="8101583" y="6245352"/>
            <a:ext cx="3749039" cy="475488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2"/>
          <p:cNvSpPr txBox="1"/>
          <p:nvPr/>
        </p:nvSpPr>
        <p:spPr>
          <a:xfrm>
            <a:off x="8174736" y="6263640"/>
            <a:ext cx="3639311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— Monitoring</a:t>
            </a:r>
            <a:b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(Observabilidade em Produção)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3"/>
          <p:cNvSpPr txBox="1"/>
          <p:nvPr/>
        </p:nvSpPr>
        <p:spPr>
          <a:xfrm>
            <a:off x="274320" y="45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RISCOS</a:t>
            </a:r>
            <a:endParaRPr/>
          </a:p>
        </p:txBody>
      </p:sp>
      <p:sp>
        <p:nvSpPr>
          <p:cNvPr id="387" name="Google Shape;387;p23"/>
          <p:cNvSpPr txBox="1"/>
          <p:nvPr/>
        </p:nvSpPr>
        <p:spPr>
          <a:xfrm>
            <a:off x="274320" y="411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Riscos da Solução + Mitigações</a:t>
            </a:r>
            <a:endParaRPr/>
          </a:p>
        </p:txBody>
      </p:sp>
      <p:sp>
        <p:nvSpPr>
          <p:cNvPr id="388" name="Google Shape;388;p2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274320" y="1143000"/>
            <a:ext cx="5715000" cy="1737360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3"/>
          <p:cNvSpPr txBox="1"/>
          <p:nvPr/>
        </p:nvSpPr>
        <p:spPr>
          <a:xfrm>
            <a:off x="411479" y="1234440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[ALTO]  Dataset sem labels prontos</a:t>
            </a:r>
            <a:endParaRPr/>
          </a:p>
        </p:txBody>
      </p:sp>
      <p:sp>
        <p:nvSpPr>
          <p:cNvPr id="391" name="Google Shape;391;p23"/>
          <p:cNvSpPr/>
          <p:nvPr/>
        </p:nvSpPr>
        <p:spPr>
          <a:xfrm>
            <a:off x="274320" y="1737360"/>
            <a:ext cx="5715000" cy="36576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3"/>
          <p:cNvSpPr txBox="1"/>
          <p:nvPr/>
        </p:nvSpPr>
        <p:spPr>
          <a:xfrm>
            <a:off x="411479" y="1828800"/>
            <a:ext cx="5394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 engenheirado (days_since_last_service &gt; 365) + clustering cego. Documentado honestamente no MODEL_CARD.</a:t>
            </a:r>
            <a:endParaRPr/>
          </a:p>
        </p:txBody>
      </p:sp>
      <p:sp>
        <p:nvSpPr>
          <p:cNvPr id="393" name="Google Shape;393;p23"/>
          <p:cNvSpPr/>
          <p:nvPr/>
        </p:nvSpPr>
        <p:spPr>
          <a:xfrm>
            <a:off x="6217920" y="1143000"/>
            <a:ext cx="5715000" cy="173736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3"/>
          <p:cNvSpPr txBox="1"/>
          <p:nvPr/>
        </p:nvSpPr>
        <p:spPr>
          <a:xfrm>
            <a:off x="6355080" y="1234440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[MÉDIO]  Aprovação de template WhatsApp Meta</a:t>
            </a:r>
            <a:endParaRPr/>
          </a:p>
        </p:txBody>
      </p:sp>
      <p:sp>
        <p:nvSpPr>
          <p:cNvPr id="395" name="Google Shape;395;p23"/>
          <p:cNvSpPr/>
          <p:nvPr/>
        </p:nvSpPr>
        <p:spPr>
          <a:xfrm>
            <a:off x="6217920" y="1737360"/>
            <a:ext cx="5715000" cy="36576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3"/>
          <p:cNvSpPr txBox="1"/>
          <p:nvPr/>
        </p:nvSpPr>
        <p:spPr>
          <a:xfrm>
            <a:off x="6355080" y="1828800"/>
            <a:ext cx="5394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Sandbox Meta para demo. Templates aprovados previamente. Screenshot de pendência como fallback honesto.</a:t>
            </a:r>
            <a:endParaRPr/>
          </a:p>
        </p:txBody>
      </p:sp>
      <p:sp>
        <p:nvSpPr>
          <p:cNvPr id="397" name="Google Shape;397;p23"/>
          <p:cNvSpPr/>
          <p:nvPr/>
        </p:nvSpPr>
        <p:spPr>
          <a:xfrm>
            <a:off x="274320" y="3063240"/>
            <a:ext cx="5715000" cy="173736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3"/>
          <p:cNvSpPr txBox="1"/>
          <p:nvPr/>
        </p:nvSpPr>
        <p:spPr>
          <a:xfrm>
            <a:off x="411479" y="3154680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[MÉDIO]  DealerCode sem mapeamento</a:t>
            </a:r>
            <a:endParaRPr/>
          </a:p>
        </p:txBody>
      </p:sp>
      <p:sp>
        <p:nvSpPr>
          <p:cNvPr id="399" name="Google Shape;399;p23"/>
          <p:cNvSpPr/>
          <p:nvPr/>
        </p:nvSpPr>
        <p:spPr>
          <a:xfrm>
            <a:off x="274320" y="3657600"/>
            <a:ext cx="5715000" cy="36576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3"/>
          <p:cNvSpPr txBox="1"/>
          <p:nvPr/>
        </p:nvSpPr>
        <p:spPr>
          <a:xfrm>
            <a:off x="411479" y="3749039"/>
            <a:ext cx="5394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Agrupamento por UF via heurística. 80 dealers geocodificados (ABRADIF). Mapeamento exato no Sprint 2.</a:t>
            </a:r>
            <a:endParaRPr/>
          </a:p>
        </p:txBody>
      </p:sp>
      <p:sp>
        <p:nvSpPr>
          <p:cNvPr id="401" name="Google Shape;401;p23"/>
          <p:cNvSpPr/>
          <p:nvPr/>
        </p:nvSpPr>
        <p:spPr>
          <a:xfrm>
            <a:off x="6217920" y="3063240"/>
            <a:ext cx="5715000" cy="173736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 txBox="1"/>
          <p:nvPr/>
        </p:nvSpPr>
        <p:spPr>
          <a:xfrm>
            <a:off x="6355080" y="3154680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[BAIXO]  Ferramenta Archi nova</a:t>
            </a:r>
            <a:endParaRPr/>
          </a:p>
        </p:txBody>
      </p:sp>
      <p:sp>
        <p:nvSpPr>
          <p:cNvPr id="403" name="Google Shape;403;p23"/>
          <p:cNvSpPr/>
          <p:nvPr/>
        </p:nvSpPr>
        <p:spPr>
          <a:xfrm>
            <a:off x="6217920" y="3657600"/>
            <a:ext cx="5715000" cy="36576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3"/>
          <p:cNvSpPr txBox="1"/>
          <p:nvPr/>
        </p:nvSpPr>
        <p:spPr>
          <a:xfrm>
            <a:off x="6355080" y="3749039"/>
            <a:ext cx="5394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Export PNG como fallback. XML do modelo entregue. Suporte do João Victor com specs MD das 4 views.</a:t>
            </a:r>
            <a:endParaRPr/>
          </a:p>
        </p:txBody>
      </p:sp>
      <p:sp>
        <p:nvSpPr>
          <p:cNvPr id="405" name="Google Shape;405;p23"/>
          <p:cNvSpPr/>
          <p:nvPr/>
        </p:nvSpPr>
        <p:spPr>
          <a:xfrm>
            <a:off x="274320" y="4983480"/>
            <a:ext cx="5715000" cy="173736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3"/>
          <p:cNvSpPr txBox="1"/>
          <p:nvPr/>
        </p:nvSpPr>
        <p:spPr>
          <a:xfrm>
            <a:off x="411479" y="5074920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[BAIXO]  Retenção baixa mesmo com a plataforma</a:t>
            </a:r>
            <a:endParaRPr/>
          </a:p>
        </p:txBody>
      </p:sp>
      <p:sp>
        <p:nvSpPr>
          <p:cNvPr id="407" name="Google Shape;407;p23"/>
          <p:cNvSpPr/>
          <p:nvPr/>
        </p:nvSpPr>
        <p:spPr>
          <a:xfrm>
            <a:off x="274320" y="5577840"/>
            <a:ext cx="5715000" cy="36576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3"/>
          <p:cNvSpPr txBox="1"/>
          <p:nvPr/>
        </p:nvSpPr>
        <p:spPr>
          <a:xfrm>
            <a:off x="411479" y="5669280"/>
            <a:ext cx="5394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Planos Ford Care elevam retenção de 20% para 60% (3x). Fluxo Simplificado alcança 80% da frota.</a:t>
            </a:r>
            <a:endParaRPr/>
          </a:p>
        </p:txBody>
      </p:sp>
      <p:sp>
        <p:nvSpPr>
          <p:cNvPr id="409" name="Google Shape;409;p23"/>
          <p:cNvSpPr/>
          <p:nvPr/>
        </p:nvSpPr>
        <p:spPr>
          <a:xfrm>
            <a:off x="6217920" y="4983480"/>
            <a:ext cx="5715000" cy="173736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3"/>
          <p:cNvSpPr txBox="1"/>
          <p:nvPr/>
        </p:nvSpPr>
        <p:spPr>
          <a:xfrm>
            <a:off x="6355080" y="5074920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[MÉDIO]  Segurança LGPD</a:t>
            </a:r>
            <a:endParaRPr/>
          </a:p>
        </p:txBody>
      </p:sp>
      <p:sp>
        <p:nvSpPr>
          <p:cNvPr id="411" name="Google Shape;411;p23"/>
          <p:cNvSpPr/>
          <p:nvPr/>
        </p:nvSpPr>
        <p:spPr>
          <a:xfrm>
            <a:off x="6217920" y="5577840"/>
            <a:ext cx="5715000" cy="36576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3"/>
          <p:cNvSpPr txBox="1"/>
          <p:nvPr/>
        </p:nvSpPr>
        <p:spPr>
          <a:xfrm>
            <a:off x="6355080" y="5669280"/>
            <a:ext cx="5394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VIN_Hash SHA1 robusto (5M reversões = 0 match). audit_log completo. Política descrita no plano Cyber.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4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4"/>
          <p:cNvSpPr txBox="1"/>
          <p:nvPr/>
        </p:nvSpPr>
        <p:spPr>
          <a:xfrm>
            <a:off x="274320" y="45720"/>
            <a:ext cx="7315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CANVAS</a:t>
            </a:r>
            <a:endParaRPr/>
          </a:p>
        </p:txBody>
      </p:sp>
      <p:sp>
        <p:nvSpPr>
          <p:cNvPr id="420" name="Google Shape;420;p24"/>
          <p:cNvSpPr txBox="1"/>
          <p:nvPr/>
        </p:nvSpPr>
        <p:spPr>
          <a:xfrm>
            <a:off x="274320" y="384048"/>
            <a:ext cx="10972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Model Canvas — ForwardService</a:t>
            </a:r>
            <a:endParaRPr/>
          </a:p>
        </p:txBody>
      </p:sp>
      <p:sp>
        <p:nvSpPr>
          <p:cNvPr id="421" name="Google Shape;421;p24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4"/>
          <p:cNvSpPr/>
          <p:nvPr/>
        </p:nvSpPr>
        <p:spPr>
          <a:xfrm>
            <a:off x="91440" y="841248"/>
            <a:ext cx="1920240" cy="301752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4"/>
          <p:cNvSpPr txBox="1"/>
          <p:nvPr/>
        </p:nvSpPr>
        <p:spPr>
          <a:xfrm>
            <a:off x="182880" y="886968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PARCEIROS-CHAVE</a:t>
            </a:r>
            <a:endParaRPr/>
          </a:p>
        </p:txBody>
      </p:sp>
      <p:sp>
        <p:nvSpPr>
          <p:cNvPr id="424" name="Google Shape;424;p24"/>
          <p:cNvSpPr/>
          <p:nvPr/>
        </p:nvSpPr>
        <p:spPr>
          <a:xfrm>
            <a:off x="91440" y="1143000"/>
            <a:ext cx="1920240" cy="18288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4"/>
          <p:cNvSpPr txBox="1"/>
          <p:nvPr/>
        </p:nvSpPr>
        <p:spPr>
          <a:xfrm>
            <a:off x="182880" y="1170432"/>
            <a:ext cx="1783080" cy="2633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Ford Brasil (dataset oficial)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Meta — WhatsApp Business (97%)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Microsoft Azure (infra VM)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Supabase / Neon (Postgres 16)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FENABRAVE (dados frota BR)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OpenAI / Anthropic (futuro)</a:t>
            </a:r>
            <a:endParaRPr/>
          </a:p>
        </p:txBody>
      </p:sp>
      <p:sp>
        <p:nvSpPr>
          <p:cNvPr id="426" name="Google Shape;426;p24"/>
          <p:cNvSpPr/>
          <p:nvPr/>
        </p:nvSpPr>
        <p:spPr>
          <a:xfrm>
            <a:off x="2084831" y="841248"/>
            <a:ext cx="1920240" cy="1435608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4"/>
          <p:cNvSpPr txBox="1"/>
          <p:nvPr/>
        </p:nvSpPr>
        <p:spPr>
          <a:xfrm>
            <a:off x="2176272" y="886968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ATIVIDADES-CHAVE</a:t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2084831" y="1143000"/>
            <a:ext cx="1920240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4"/>
          <p:cNvSpPr txBox="1"/>
          <p:nvPr/>
        </p:nvSpPr>
        <p:spPr>
          <a:xfrm>
            <a:off x="2176272" y="1170432"/>
            <a:ext cx="1783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ML scoring 175k VINs/dia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Disparos n8n + WhatsApp auto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Manter e retreinar modelos (Flywheel)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KPIs e IHC por dealer real time</a:t>
            </a:r>
            <a:endParaRPr/>
          </a:p>
        </p:txBody>
      </p:sp>
      <p:sp>
        <p:nvSpPr>
          <p:cNvPr id="430" name="Google Shape;430;p24"/>
          <p:cNvSpPr/>
          <p:nvPr/>
        </p:nvSpPr>
        <p:spPr>
          <a:xfrm>
            <a:off x="2084831" y="2350008"/>
            <a:ext cx="1920240" cy="150876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4"/>
          <p:cNvSpPr txBox="1"/>
          <p:nvPr/>
        </p:nvSpPr>
        <p:spPr>
          <a:xfrm>
            <a:off x="2176272" y="2395727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RECURSOS-CHAVE</a:t>
            </a:r>
            <a:endParaRPr/>
          </a:p>
        </p:txBody>
      </p:sp>
      <p:sp>
        <p:nvSpPr>
          <p:cNvPr id="432" name="Google Shape;432;p24"/>
          <p:cNvSpPr/>
          <p:nvPr/>
        </p:nvSpPr>
        <p:spPr>
          <a:xfrm>
            <a:off x="2084831" y="2651760"/>
            <a:ext cx="1920240" cy="18288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4"/>
          <p:cNvSpPr txBox="1"/>
          <p:nvPr/>
        </p:nvSpPr>
        <p:spPr>
          <a:xfrm>
            <a:off x="2176272" y="2679191"/>
            <a:ext cx="1783080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Dataset 602k eventos Ford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Modelos ML (3 camadas)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Infra Azure VM + Postgres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Equipe 4 devs multidisciplinar</a:t>
            </a:r>
            <a:endParaRPr/>
          </a:p>
        </p:txBody>
      </p:sp>
      <p:sp>
        <p:nvSpPr>
          <p:cNvPr id="434" name="Google Shape;434;p24"/>
          <p:cNvSpPr/>
          <p:nvPr/>
        </p:nvSpPr>
        <p:spPr>
          <a:xfrm>
            <a:off x="4078224" y="841248"/>
            <a:ext cx="2331720" cy="301752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4"/>
          <p:cNvSpPr/>
          <p:nvPr/>
        </p:nvSpPr>
        <p:spPr>
          <a:xfrm>
            <a:off x="4078224" y="841248"/>
            <a:ext cx="2331720" cy="54864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4"/>
          <p:cNvSpPr txBox="1"/>
          <p:nvPr/>
        </p:nvSpPr>
        <p:spPr>
          <a:xfrm>
            <a:off x="4169663" y="886968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PROPOSTA DE VALOR</a:t>
            </a:r>
            <a:endParaRPr/>
          </a:p>
        </p:txBody>
      </p:sp>
      <p:sp>
        <p:nvSpPr>
          <p:cNvPr id="437" name="Google Shape;437;p24"/>
          <p:cNvSpPr/>
          <p:nvPr/>
        </p:nvSpPr>
        <p:spPr>
          <a:xfrm>
            <a:off x="4078224" y="1143000"/>
            <a:ext cx="2331720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4169663" y="1188720"/>
            <a:ext cx="2176272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Ford BR: VIN Share 4% → 8-10%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Dealer: Pulse Leads diários por risco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Cliente Ka/EcoSport: Fluxo Simplificado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Cliente Ranger: Ford Care (3× retenção)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Cockpit nacional em tempo real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ROI 300:1 por campanha WhatsApp</a:t>
            </a:r>
            <a:endParaRPr/>
          </a:p>
        </p:txBody>
      </p:sp>
      <p:sp>
        <p:nvSpPr>
          <p:cNvPr id="439" name="Google Shape;439;p24"/>
          <p:cNvSpPr/>
          <p:nvPr/>
        </p:nvSpPr>
        <p:spPr>
          <a:xfrm>
            <a:off x="6483096" y="841248"/>
            <a:ext cx="1920240" cy="1435608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6574536" y="886968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RELACIONAMENTO</a:t>
            </a:r>
            <a:endParaRPr/>
          </a:p>
        </p:txBody>
      </p:sp>
      <p:sp>
        <p:nvSpPr>
          <p:cNvPr id="441" name="Google Shape;441;p24"/>
          <p:cNvSpPr/>
          <p:nvPr/>
        </p:nvSpPr>
        <p:spPr>
          <a:xfrm>
            <a:off x="6483096" y="1143000"/>
            <a:ext cx="1920240" cy="18288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6574536" y="1170432"/>
            <a:ext cx="1783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Self-service: app dual-mode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Personalizado via dealer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WhatsApp automático 24/7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Ford Care (longo prazo pré-pago)</a:t>
            </a:r>
            <a:endParaRPr/>
          </a:p>
        </p:txBody>
      </p:sp>
      <p:sp>
        <p:nvSpPr>
          <p:cNvPr id="443" name="Google Shape;443;p24"/>
          <p:cNvSpPr/>
          <p:nvPr/>
        </p:nvSpPr>
        <p:spPr>
          <a:xfrm>
            <a:off x="6483096" y="2350008"/>
            <a:ext cx="1920240" cy="150876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6574536" y="2395727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CANAIS</a:t>
            </a:r>
            <a:endParaRPr/>
          </a:p>
        </p:txBody>
      </p:sp>
      <p:sp>
        <p:nvSpPr>
          <p:cNvPr id="445" name="Google Shape;445;p24"/>
          <p:cNvSpPr/>
          <p:nvPr/>
        </p:nvSpPr>
        <p:spPr>
          <a:xfrm>
            <a:off x="6483096" y="2651760"/>
            <a:ext cx="1920240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6574536" y="2679191"/>
            <a:ext cx="1783080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WhatsApp Business (97% abertura)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App Mobile React Native/Expo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Dashboard Web SvelteKit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n8n (email/SMS — Sprint 2)</a:t>
            </a:r>
            <a:endParaRPr/>
          </a:p>
        </p:txBody>
      </p:sp>
      <p:sp>
        <p:nvSpPr>
          <p:cNvPr id="447" name="Google Shape;447;p24"/>
          <p:cNvSpPr/>
          <p:nvPr/>
        </p:nvSpPr>
        <p:spPr>
          <a:xfrm>
            <a:off x="8476488" y="841248"/>
            <a:ext cx="3621024" cy="301752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8567928" y="886968"/>
            <a:ext cx="3483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SEGMENTOS</a:t>
            </a:r>
            <a:endParaRPr/>
          </a:p>
        </p:txBody>
      </p:sp>
      <p:sp>
        <p:nvSpPr>
          <p:cNvPr id="449" name="Google Shape;449;p24"/>
          <p:cNvSpPr/>
          <p:nvPr/>
        </p:nvSpPr>
        <p:spPr>
          <a:xfrm>
            <a:off x="8476488" y="1143000"/>
            <a:ext cx="3621024" cy="18288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4"/>
          <p:cNvSpPr txBox="1"/>
          <p:nvPr/>
        </p:nvSpPr>
        <p:spPr>
          <a:xfrm>
            <a:off x="8567928" y="1170432"/>
            <a:ext cx="3483864" cy="2633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Ford Brasil (B2B — matriz)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145 concessionárias ativas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Donos modelos recentes (Ranger)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Donos Ka/EcoSport/Fiesta (2,5M+)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Gestores regionais Ford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4 perfis ML: Fiel/Econom/Esquec/Aband</a:t>
            </a:r>
            <a:endParaRPr/>
          </a:p>
        </p:txBody>
      </p:sp>
      <p:sp>
        <p:nvSpPr>
          <p:cNvPr id="451" name="Google Shape;451;p24"/>
          <p:cNvSpPr/>
          <p:nvPr/>
        </p:nvSpPr>
        <p:spPr>
          <a:xfrm>
            <a:off x="91440" y="3931920"/>
            <a:ext cx="6035040" cy="182880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4"/>
          <p:cNvSpPr txBox="1"/>
          <p:nvPr/>
        </p:nvSpPr>
        <p:spPr>
          <a:xfrm>
            <a:off x="182880" y="3977639"/>
            <a:ext cx="589787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ESTRUTURA DE CUSTOS</a:t>
            </a:r>
            <a:endParaRPr/>
          </a:p>
        </p:txBody>
      </p:sp>
      <p:sp>
        <p:nvSpPr>
          <p:cNvPr id="453" name="Google Shape;453;p24"/>
          <p:cNvSpPr/>
          <p:nvPr/>
        </p:nvSpPr>
        <p:spPr>
          <a:xfrm>
            <a:off x="91440" y="4233672"/>
            <a:ext cx="6035040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4"/>
          <p:cNvSpPr txBox="1"/>
          <p:nvPr/>
        </p:nvSpPr>
        <p:spPr>
          <a:xfrm>
            <a:off x="182880" y="4261104"/>
            <a:ext cx="5897879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Azure VM: $7-30/mês · Supabase: $0-25/mês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WhatsApp API: free 1k msgs/mês (Sprint 1)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Retrabalho ML, suporte dealers, incidentes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Treinamento atendentes: &lt;15 min/usuário</a:t>
            </a:r>
            <a:endParaRPr/>
          </a:p>
        </p:txBody>
      </p:sp>
      <p:sp>
        <p:nvSpPr>
          <p:cNvPr id="455" name="Google Shape;455;p24"/>
          <p:cNvSpPr/>
          <p:nvPr/>
        </p:nvSpPr>
        <p:spPr>
          <a:xfrm>
            <a:off x="6199632" y="3931920"/>
            <a:ext cx="5897880" cy="18288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4"/>
          <p:cNvSpPr txBox="1"/>
          <p:nvPr/>
        </p:nvSpPr>
        <p:spPr>
          <a:xfrm>
            <a:off x="6291072" y="3977639"/>
            <a:ext cx="5760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FONTES DE RECEITA</a:t>
            </a:r>
            <a:endParaRPr/>
          </a:p>
        </p:txBody>
      </p:sp>
      <p:sp>
        <p:nvSpPr>
          <p:cNvPr id="457" name="Google Shape;457;p24"/>
          <p:cNvSpPr/>
          <p:nvPr/>
        </p:nvSpPr>
        <p:spPr>
          <a:xfrm>
            <a:off x="6199632" y="4233672"/>
            <a:ext cx="5897880" cy="18288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4"/>
          <p:cNvSpPr txBox="1"/>
          <p:nvPr/>
        </p:nvSpPr>
        <p:spPr>
          <a:xfrm>
            <a:off x="6291072" y="4261104"/>
            <a:ext cx="5760720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SaaS Ford Brasil: licença mensal pós-MVP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Assinatura por dealer: 145 potenciais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Ford Care: receita antecipada de revisões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ROI 300:1 documentado por campanha</a:t>
            </a:r>
            <a:endParaRPr/>
          </a:p>
        </p:txBody>
      </p:sp>
      <p:sp>
        <p:nvSpPr>
          <p:cNvPr id="459" name="Google Shape;459;p24"/>
          <p:cNvSpPr txBox="1"/>
          <p:nvPr/>
        </p:nvSpPr>
        <p:spPr>
          <a:xfrm>
            <a:off x="182880" y="5833872"/>
            <a:ext cx="1179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647487"/>
                </a:solidFill>
                <a:latin typeface="Calibri"/>
                <a:ea typeface="Calibri"/>
                <a:cs typeface="Calibri"/>
                <a:sym typeface="Calibri"/>
              </a:rPr>
              <a:t>Detalhes completos (impacto de falhas + custos de qualidade): CANVAS.html / CANVAS.pdf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5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5"/>
          <p:cNvSpPr txBox="1"/>
          <p:nvPr/>
        </p:nvSpPr>
        <p:spPr>
          <a:xfrm>
            <a:off x="274320" y="45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QUADRO DE VALOR</a:t>
            </a:r>
            <a:endParaRPr/>
          </a:p>
        </p:txBody>
      </p:sp>
      <p:sp>
        <p:nvSpPr>
          <p:cNvPr id="467" name="Google Shape;467;p25"/>
          <p:cNvSpPr txBox="1"/>
          <p:nvPr/>
        </p:nvSpPr>
        <p:spPr>
          <a:xfrm>
            <a:off x="274320" y="411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Partes Interessadas — O que cada stakeholder ganha</a:t>
            </a:r>
            <a:endParaRPr/>
          </a:p>
        </p:txBody>
      </p:sp>
      <p:sp>
        <p:nvSpPr>
          <p:cNvPr id="468" name="Google Shape;468;p25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5"/>
          <p:cNvSpPr txBox="1"/>
          <p:nvPr/>
        </p:nvSpPr>
        <p:spPr>
          <a:xfrm>
            <a:off x="365760" y="100584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Para cada benefício: métrica de negócio (resultado) + métrica de qualidade (SLA técnico)</a:t>
            </a:r>
            <a:endParaRPr/>
          </a:p>
        </p:txBody>
      </p:sp>
      <p:sp>
        <p:nvSpPr>
          <p:cNvPr id="470" name="Google Shape;470;p25"/>
          <p:cNvSpPr/>
          <p:nvPr/>
        </p:nvSpPr>
        <p:spPr>
          <a:xfrm>
            <a:off x="137160" y="1371600"/>
            <a:ext cx="1920240" cy="347472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5"/>
          <p:cNvSpPr txBox="1"/>
          <p:nvPr/>
        </p:nvSpPr>
        <p:spPr>
          <a:xfrm>
            <a:off x="182880" y="140817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STAKEHOLDER</a:t>
            </a:r>
            <a:endParaRPr/>
          </a:p>
        </p:txBody>
      </p:sp>
      <p:sp>
        <p:nvSpPr>
          <p:cNvPr id="472" name="Google Shape;472;p25"/>
          <p:cNvSpPr/>
          <p:nvPr/>
        </p:nvSpPr>
        <p:spPr>
          <a:xfrm>
            <a:off x="2103120" y="1371600"/>
            <a:ext cx="3200400" cy="347472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5"/>
          <p:cNvSpPr txBox="1"/>
          <p:nvPr/>
        </p:nvSpPr>
        <p:spPr>
          <a:xfrm>
            <a:off x="2148839" y="140817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PROMESSA FORWARDSERVICE</a:t>
            </a:r>
            <a:endParaRPr/>
          </a:p>
        </p:txBody>
      </p:sp>
      <p:sp>
        <p:nvSpPr>
          <p:cNvPr id="474" name="Google Shape;474;p25"/>
          <p:cNvSpPr/>
          <p:nvPr/>
        </p:nvSpPr>
        <p:spPr>
          <a:xfrm>
            <a:off x="5349240" y="1371600"/>
            <a:ext cx="2926080" cy="347472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5"/>
          <p:cNvSpPr txBox="1"/>
          <p:nvPr/>
        </p:nvSpPr>
        <p:spPr>
          <a:xfrm>
            <a:off x="5394959" y="140817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MÉTRICA DE NEGÓCIO</a:t>
            </a:r>
            <a:endParaRPr/>
          </a:p>
        </p:txBody>
      </p:sp>
      <p:sp>
        <p:nvSpPr>
          <p:cNvPr id="476" name="Google Shape;476;p25"/>
          <p:cNvSpPr/>
          <p:nvPr/>
        </p:nvSpPr>
        <p:spPr>
          <a:xfrm>
            <a:off x="8321040" y="1371600"/>
            <a:ext cx="2560320" cy="347472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5"/>
          <p:cNvSpPr txBox="1"/>
          <p:nvPr/>
        </p:nvSpPr>
        <p:spPr>
          <a:xfrm>
            <a:off x="8366760" y="1408176"/>
            <a:ext cx="24688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MÉTRICA DE QUALIDADE</a:t>
            </a:r>
            <a:endParaRPr/>
          </a:p>
        </p:txBody>
      </p:sp>
      <p:sp>
        <p:nvSpPr>
          <p:cNvPr id="478" name="Google Shape;478;p25"/>
          <p:cNvSpPr/>
          <p:nvPr/>
        </p:nvSpPr>
        <p:spPr>
          <a:xfrm>
            <a:off x="10927080" y="1371600"/>
            <a:ext cx="1097280" cy="347472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5"/>
          <p:cNvSpPr txBox="1"/>
          <p:nvPr/>
        </p:nvSpPr>
        <p:spPr>
          <a:xfrm>
            <a:off x="10972800" y="1408176"/>
            <a:ext cx="10058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</a:t>
            </a:r>
            <a:endParaRPr/>
          </a:p>
        </p:txBody>
      </p:sp>
      <p:sp>
        <p:nvSpPr>
          <p:cNvPr id="480" name="Google Shape;480;p25"/>
          <p:cNvSpPr/>
          <p:nvPr/>
        </p:nvSpPr>
        <p:spPr>
          <a:xfrm>
            <a:off x="137160" y="1737360"/>
            <a:ext cx="11887200" cy="539496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5"/>
          <p:cNvSpPr txBox="1"/>
          <p:nvPr/>
        </p:nvSpPr>
        <p:spPr>
          <a:xfrm>
            <a:off x="182880" y="1764792"/>
            <a:ext cx="182880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Ford Brasil</a:t>
            </a:r>
            <a:endParaRPr/>
          </a:p>
        </p:txBody>
      </p:sp>
      <p:sp>
        <p:nvSpPr>
          <p:cNvPr id="482" name="Google Shape;482;p25"/>
          <p:cNvSpPr txBox="1"/>
          <p:nvPr/>
        </p:nvSpPr>
        <p:spPr>
          <a:xfrm>
            <a:off x="2148840" y="1764792"/>
            <a:ext cx="30632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Dashboard nacional real time:</a:t>
            </a:r>
            <a:br>
              <a:rPr b="0" i="0" lang="en-US" sz="8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VIN Share por UF · ROI rastreável</a:t>
            </a:r>
            <a:endParaRPr/>
          </a:p>
        </p:txBody>
      </p:sp>
      <p:sp>
        <p:nvSpPr>
          <p:cNvPr id="483" name="Google Shape;483;p25"/>
          <p:cNvSpPr txBox="1"/>
          <p:nvPr/>
        </p:nvSpPr>
        <p:spPr>
          <a:xfrm>
            <a:off x="5394960" y="1764792"/>
            <a:ext cx="28346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56A0"/>
                </a:solidFill>
                <a:latin typeface="Calibri"/>
                <a:ea typeface="Calibri"/>
                <a:cs typeface="Calibri"/>
                <a:sym typeface="Calibri"/>
              </a:rPr>
              <a:t>VIN Share ≥ 8% em 24 meses</a:t>
            </a:r>
            <a:br>
              <a:rPr b="1" i="0" lang="en-US" sz="800" u="none" cap="none" strike="noStrike">
                <a:solidFill>
                  <a:srgbClr val="1E56A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00" u="none" cap="none" strike="noStrike">
                <a:solidFill>
                  <a:srgbClr val="1E56A0"/>
                </a:solidFill>
                <a:latin typeface="Calibri"/>
                <a:ea typeface="Calibri"/>
                <a:cs typeface="Calibri"/>
                <a:sym typeface="Calibri"/>
              </a:rPr>
              <a:t>(base: ~3,5-5% hoje)</a:t>
            </a:r>
            <a:endParaRPr/>
          </a:p>
        </p:txBody>
      </p:sp>
      <p:sp>
        <p:nvSpPr>
          <p:cNvPr id="484" name="Google Shape;484;p25"/>
          <p:cNvSpPr txBox="1"/>
          <p:nvPr/>
        </p:nvSpPr>
        <p:spPr>
          <a:xfrm>
            <a:off x="8366760" y="1764792"/>
            <a:ext cx="242316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Disponib. ≥ 99%</a:t>
            </a:r>
            <a:br>
              <a:rPr b="1" i="0" lang="en-US" sz="8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Latência API p95 &lt; 300ms</a:t>
            </a:r>
            <a:endParaRPr/>
          </a:p>
        </p:txBody>
      </p:sp>
      <p:sp>
        <p:nvSpPr>
          <p:cNvPr id="485" name="Google Shape;485;p25"/>
          <p:cNvSpPr/>
          <p:nvPr/>
        </p:nvSpPr>
        <p:spPr>
          <a:xfrm>
            <a:off x="10972800" y="1810512"/>
            <a:ext cx="1005840" cy="356616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5"/>
          <p:cNvSpPr txBox="1"/>
          <p:nvPr/>
        </p:nvSpPr>
        <p:spPr>
          <a:xfrm>
            <a:off x="10972800" y="18288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endParaRPr/>
          </a:p>
        </p:txBody>
      </p:sp>
      <p:sp>
        <p:nvSpPr>
          <p:cNvPr id="487" name="Google Shape;487;p25"/>
          <p:cNvSpPr/>
          <p:nvPr/>
        </p:nvSpPr>
        <p:spPr>
          <a:xfrm>
            <a:off x="137160" y="2295144"/>
            <a:ext cx="11887200" cy="5394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5"/>
          <p:cNvSpPr txBox="1"/>
          <p:nvPr/>
        </p:nvSpPr>
        <p:spPr>
          <a:xfrm>
            <a:off x="182880" y="2322575"/>
            <a:ext cx="182880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Gestor Regional</a:t>
            </a:r>
            <a:endParaRPr/>
          </a:p>
        </p:txBody>
      </p:sp>
      <p:sp>
        <p:nvSpPr>
          <p:cNvPr id="489" name="Google Shape;489;p25"/>
          <p:cNvSpPr txBox="1"/>
          <p:nvPr/>
        </p:nvSpPr>
        <p:spPr>
          <a:xfrm>
            <a:off x="2148840" y="2322575"/>
            <a:ext cx="30632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Cockpit: IHC 0-100 por dealer,</a:t>
            </a:r>
            <a:br>
              <a:rPr b="0" i="0" lang="en-US" sz="8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ranking e causa-raiz</a:t>
            </a:r>
            <a:endParaRPr/>
          </a:p>
        </p:txBody>
      </p:sp>
      <p:sp>
        <p:nvSpPr>
          <p:cNvPr id="490" name="Google Shape;490;p25"/>
          <p:cNvSpPr txBox="1"/>
          <p:nvPr/>
        </p:nvSpPr>
        <p:spPr>
          <a:xfrm>
            <a:off x="5394960" y="2322575"/>
            <a:ext cx="28346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56A0"/>
                </a:solidFill>
                <a:latin typeface="Calibri"/>
                <a:ea typeface="Calibri"/>
                <a:cs typeface="Calibri"/>
                <a:sym typeface="Calibri"/>
              </a:rPr>
              <a:t>≥ 80% dealers acima</a:t>
            </a:r>
            <a:br>
              <a:rPr b="1" i="0" lang="en-US" sz="800" u="none" cap="none" strike="noStrike">
                <a:solidFill>
                  <a:srgbClr val="1E56A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00" u="none" cap="none" strike="noStrike">
                <a:solidFill>
                  <a:srgbClr val="1E56A0"/>
                </a:solidFill>
                <a:latin typeface="Calibri"/>
                <a:ea typeface="Calibri"/>
                <a:cs typeface="Calibri"/>
                <a:sym typeface="Calibri"/>
              </a:rPr>
              <a:t>da meta regional de IHC</a:t>
            </a:r>
            <a:endParaRPr/>
          </a:p>
        </p:txBody>
      </p:sp>
      <p:sp>
        <p:nvSpPr>
          <p:cNvPr id="491" name="Google Shape;491;p25"/>
          <p:cNvSpPr txBox="1"/>
          <p:nvPr/>
        </p:nvSpPr>
        <p:spPr>
          <a:xfrm>
            <a:off x="8366760" y="2322575"/>
            <a:ext cx="242316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IHC atualiz. 1×/dia</a:t>
            </a:r>
            <a:br>
              <a:rPr b="1" i="0" lang="en-US" sz="8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Silhouette K-means &gt; 0,4</a:t>
            </a:r>
            <a:endParaRPr/>
          </a:p>
        </p:txBody>
      </p:sp>
      <p:sp>
        <p:nvSpPr>
          <p:cNvPr id="492" name="Google Shape;492;p25"/>
          <p:cNvSpPr/>
          <p:nvPr/>
        </p:nvSpPr>
        <p:spPr>
          <a:xfrm>
            <a:off x="10972800" y="2368296"/>
            <a:ext cx="1005840" cy="356616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5"/>
          <p:cNvSpPr txBox="1"/>
          <p:nvPr/>
        </p:nvSpPr>
        <p:spPr>
          <a:xfrm>
            <a:off x="10972800" y="2386584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endParaRPr/>
          </a:p>
        </p:txBody>
      </p:sp>
      <p:sp>
        <p:nvSpPr>
          <p:cNvPr id="494" name="Google Shape;494;p25"/>
          <p:cNvSpPr/>
          <p:nvPr/>
        </p:nvSpPr>
        <p:spPr>
          <a:xfrm>
            <a:off x="137160" y="2852928"/>
            <a:ext cx="11887200" cy="539496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5"/>
          <p:cNvSpPr txBox="1"/>
          <p:nvPr/>
        </p:nvSpPr>
        <p:spPr>
          <a:xfrm>
            <a:off x="182880" y="2880360"/>
            <a:ext cx="182880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Dono de Concessionária</a:t>
            </a:r>
            <a:endParaRPr/>
          </a:p>
        </p:txBody>
      </p:sp>
      <p:sp>
        <p:nvSpPr>
          <p:cNvPr id="496" name="Google Shape;496;p25"/>
          <p:cNvSpPr txBox="1"/>
          <p:nvPr/>
        </p:nvSpPr>
        <p:spPr>
          <a:xfrm>
            <a:off x="2148840" y="2880360"/>
            <a:ext cx="30632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Pulse Leads: lista diária</a:t>
            </a:r>
            <a:br>
              <a:rPr b="0" i="0" lang="en-US" sz="8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por risco + LSV automático</a:t>
            </a:r>
            <a:endParaRPr/>
          </a:p>
        </p:txBody>
      </p:sp>
      <p:sp>
        <p:nvSpPr>
          <p:cNvPr id="497" name="Google Shape;497;p25"/>
          <p:cNvSpPr txBox="1"/>
          <p:nvPr/>
        </p:nvSpPr>
        <p:spPr>
          <a:xfrm>
            <a:off x="5394960" y="2880360"/>
            <a:ext cx="28346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56A0"/>
                </a:solidFill>
                <a:latin typeface="Calibri"/>
                <a:ea typeface="Calibri"/>
                <a:cs typeface="Calibri"/>
                <a:sym typeface="Calibri"/>
              </a:rPr>
              <a:t>Conversão lead → revisão</a:t>
            </a:r>
            <a:br>
              <a:rPr b="1" i="0" lang="en-US" sz="800" u="none" cap="none" strike="noStrike">
                <a:solidFill>
                  <a:srgbClr val="1E56A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00" u="none" cap="none" strike="noStrike">
                <a:solidFill>
                  <a:srgbClr val="1E56A0"/>
                </a:solidFill>
                <a:latin typeface="Calibri"/>
                <a:ea typeface="Calibri"/>
                <a:cs typeface="Calibri"/>
                <a:sym typeface="Calibri"/>
              </a:rPr>
              <a:t>≥ 35%</a:t>
            </a:r>
            <a:endParaRPr/>
          </a:p>
        </p:txBody>
      </p:sp>
      <p:sp>
        <p:nvSpPr>
          <p:cNvPr id="498" name="Google Shape;498;p25"/>
          <p:cNvSpPr txBox="1"/>
          <p:nvPr/>
        </p:nvSpPr>
        <p:spPr>
          <a:xfrm>
            <a:off x="8366760" y="2880360"/>
            <a:ext cx="242316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Endpoint /leads &lt; 200ms</a:t>
            </a:r>
            <a:br>
              <a:rPr b="1" i="0" lang="en-US" sz="8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Zero leads duplicados/dia</a:t>
            </a:r>
            <a:endParaRPr/>
          </a:p>
        </p:txBody>
      </p:sp>
      <p:sp>
        <p:nvSpPr>
          <p:cNvPr id="499" name="Google Shape;499;p25"/>
          <p:cNvSpPr/>
          <p:nvPr/>
        </p:nvSpPr>
        <p:spPr>
          <a:xfrm>
            <a:off x="10972800" y="2926080"/>
            <a:ext cx="1005840" cy="356616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5"/>
          <p:cNvSpPr txBox="1"/>
          <p:nvPr/>
        </p:nvSpPr>
        <p:spPr>
          <a:xfrm>
            <a:off x="10972800" y="2944368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endParaRPr/>
          </a:p>
        </p:txBody>
      </p:sp>
      <p:sp>
        <p:nvSpPr>
          <p:cNvPr id="501" name="Google Shape;501;p25"/>
          <p:cNvSpPr/>
          <p:nvPr/>
        </p:nvSpPr>
        <p:spPr>
          <a:xfrm>
            <a:off x="137160" y="3410712"/>
            <a:ext cx="11887200" cy="5394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5"/>
          <p:cNvSpPr txBox="1"/>
          <p:nvPr/>
        </p:nvSpPr>
        <p:spPr>
          <a:xfrm>
            <a:off x="182880" y="3438144"/>
            <a:ext cx="182880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Gerente de Serviço</a:t>
            </a:r>
            <a:endParaRPr/>
          </a:p>
        </p:txBody>
      </p:sp>
      <p:sp>
        <p:nvSpPr>
          <p:cNvPr id="503" name="Google Shape;503;p25"/>
          <p:cNvSpPr txBox="1"/>
          <p:nvPr/>
        </p:nvSpPr>
        <p:spPr>
          <a:xfrm>
            <a:off x="2148840" y="3438144"/>
            <a:ext cx="30632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Ficha do cliente: etiqueta de</a:t>
            </a:r>
            <a:br>
              <a:rPr b="0" i="0" lang="en-US" sz="8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segmento + ação sugerida pelo ML</a:t>
            </a:r>
            <a:endParaRPr/>
          </a:p>
        </p:txBody>
      </p:sp>
      <p:sp>
        <p:nvSpPr>
          <p:cNvPr id="504" name="Google Shape;504;p25"/>
          <p:cNvSpPr txBox="1"/>
          <p:nvPr/>
        </p:nvSpPr>
        <p:spPr>
          <a:xfrm>
            <a:off x="5394960" y="3438144"/>
            <a:ext cx="28346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56A0"/>
                </a:solidFill>
                <a:latin typeface="Calibri"/>
                <a:ea typeface="Calibri"/>
                <a:cs typeface="Calibri"/>
                <a:sym typeface="Calibri"/>
              </a:rPr>
              <a:t>Redução 40% no tempo</a:t>
            </a:r>
            <a:br>
              <a:rPr b="1" i="0" lang="en-US" sz="800" u="none" cap="none" strike="noStrike">
                <a:solidFill>
                  <a:srgbClr val="1E56A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00" u="none" cap="none" strike="noStrike">
                <a:solidFill>
                  <a:srgbClr val="1E56A0"/>
                </a:solidFill>
                <a:latin typeface="Calibri"/>
                <a:ea typeface="Calibri"/>
                <a:cs typeface="Calibri"/>
                <a:sym typeface="Calibri"/>
              </a:rPr>
              <a:t>de priorização de contatos</a:t>
            </a:r>
            <a:endParaRPr/>
          </a:p>
        </p:txBody>
      </p:sp>
      <p:sp>
        <p:nvSpPr>
          <p:cNvPr id="505" name="Google Shape;505;p25"/>
          <p:cNvSpPr txBox="1"/>
          <p:nvPr/>
        </p:nvSpPr>
        <p:spPr>
          <a:xfrm>
            <a:off x="8366760" y="3438144"/>
            <a:ext cx="242316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AUC classificador ≥ 0,82</a:t>
            </a:r>
            <a:br>
              <a:rPr b="1" i="0" lang="en-US" sz="8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Falsos positivos &lt; 10%</a:t>
            </a:r>
            <a:endParaRPr/>
          </a:p>
        </p:txBody>
      </p:sp>
      <p:sp>
        <p:nvSpPr>
          <p:cNvPr id="506" name="Google Shape;506;p25"/>
          <p:cNvSpPr/>
          <p:nvPr/>
        </p:nvSpPr>
        <p:spPr>
          <a:xfrm>
            <a:off x="10972800" y="3483864"/>
            <a:ext cx="1005840" cy="356616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5"/>
          <p:cNvSpPr txBox="1"/>
          <p:nvPr/>
        </p:nvSpPr>
        <p:spPr>
          <a:xfrm>
            <a:off x="10972800" y="3502152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endParaRPr/>
          </a:p>
        </p:txBody>
      </p:sp>
      <p:sp>
        <p:nvSpPr>
          <p:cNvPr id="508" name="Google Shape;508;p25"/>
          <p:cNvSpPr/>
          <p:nvPr/>
        </p:nvSpPr>
        <p:spPr>
          <a:xfrm>
            <a:off x="137160" y="3968496"/>
            <a:ext cx="11887200" cy="539496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5"/>
          <p:cNvSpPr txBox="1"/>
          <p:nvPr/>
        </p:nvSpPr>
        <p:spPr>
          <a:xfrm>
            <a:off x="182880" y="3995928"/>
            <a:ext cx="182880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Dono modelo descontin.</a:t>
            </a:r>
            <a:endParaRPr/>
          </a:p>
        </p:txBody>
      </p:sp>
      <p:sp>
        <p:nvSpPr>
          <p:cNvPr id="510" name="Google Shape;510;p25"/>
          <p:cNvSpPr txBox="1"/>
          <p:nvPr/>
        </p:nvSpPr>
        <p:spPr>
          <a:xfrm>
            <a:off x="2148840" y="3995928"/>
            <a:ext cx="30632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Fluxo Simplificado: WhatsApp,</a:t>
            </a:r>
            <a:br>
              <a:rPr b="0" i="0" lang="en-US" sz="8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cadastro VIN manual, lembrete km</a:t>
            </a:r>
            <a:endParaRPr/>
          </a:p>
        </p:txBody>
      </p:sp>
      <p:sp>
        <p:nvSpPr>
          <p:cNvPr id="511" name="Google Shape;511;p25"/>
          <p:cNvSpPr txBox="1"/>
          <p:nvPr/>
        </p:nvSpPr>
        <p:spPr>
          <a:xfrm>
            <a:off x="5394960" y="3995928"/>
            <a:ext cx="28346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56A0"/>
                </a:solidFill>
                <a:latin typeface="Calibri"/>
                <a:ea typeface="Calibri"/>
                <a:cs typeface="Calibri"/>
                <a:sym typeface="Calibri"/>
              </a:rPr>
              <a:t>Reativação ≥ 15% dos VINs</a:t>
            </a:r>
            <a:br>
              <a:rPr b="1" i="0" lang="en-US" sz="800" u="none" cap="none" strike="noStrike">
                <a:solidFill>
                  <a:srgbClr val="1E56A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00" u="none" cap="none" strike="noStrike">
                <a:solidFill>
                  <a:srgbClr val="1E56A0"/>
                </a:solidFill>
                <a:latin typeface="Calibri"/>
                <a:ea typeface="Calibri"/>
                <a:cs typeface="Calibri"/>
                <a:sym typeface="Calibri"/>
              </a:rPr>
              <a:t>inativos &gt;12 meses (1º sem.)</a:t>
            </a:r>
            <a:endParaRPr/>
          </a:p>
        </p:txBody>
      </p:sp>
      <p:sp>
        <p:nvSpPr>
          <p:cNvPr id="512" name="Google Shape;512;p25"/>
          <p:cNvSpPr txBox="1"/>
          <p:nvPr/>
        </p:nvSpPr>
        <p:spPr>
          <a:xfrm>
            <a:off x="8366760" y="3995928"/>
            <a:ext cx="242316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Entrega WhatsApp &lt; 30s</a:t>
            </a:r>
            <a:br>
              <a:rPr b="1" i="0" lang="en-US" sz="8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Abertura ≥ 80%</a:t>
            </a:r>
            <a:endParaRPr/>
          </a:p>
        </p:txBody>
      </p:sp>
      <p:sp>
        <p:nvSpPr>
          <p:cNvPr id="513" name="Google Shape;513;p25"/>
          <p:cNvSpPr/>
          <p:nvPr/>
        </p:nvSpPr>
        <p:spPr>
          <a:xfrm>
            <a:off x="10972800" y="4041648"/>
            <a:ext cx="1005840" cy="356616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5"/>
          <p:cNvSpPr txBox="1"/>
          <p:nvPr/>
        </p:nvSpPr>
        <p:spPr>
          <a:xfrm>
            <a:off x="10972800" y="4059935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endParaRPr/>
          </a:p>
        </p:txBody>
      </p:sp>
      <p:sp>
        <p:nvSpPr>
          <p:cNvPr id="515" name="Google Shape;515;p25"/>
          <p:cNvSpPr/>
          <p:nvPr/>
        </p:nvSpPr>
        <p:spPr>
          <a:xfrm>
            <a:off x="137160" y="4526279"/>
            <a:ext cx="11887200" cy="5394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5"/>
          <p:cNvSpPr txBox="1"/>
          <p:nvPr/>
        </p:nvSpPr>
        <p:spPr>
          <a:xfrm>
            <a:off x="182880" y="4553712"/>
            <a:ext cx="182880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Atendente (dealer)</a:t>
            </a:r>
            <a:endParaRPr/>
          </a:p>
        </p:txBody>
      </p:sp>
      <p:sp>
        <p:nvSpPr>
          <p:cNvPr id="517" name="Google Shape;517;p25"/>
          <p:cNvSpPr txBox="1"/>
          <p:nvPr/>
        </p:nvSpPr>
        <p:spPr>
          <a:xfrm>
            <a:off x="2148840" y="4553712"/>
            <a:ext cx="30632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Vista 360: histórico completo,</a:t>
            </a:r>
            <a:br>
              <a:rPr b="0" i="0" lang="en-US" sz="8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score, ação — uma tela</a:t>
            </a:r>
            <a:endParaRPr/>
          </a:p>
        </p:txBody>
      </p:sp>
      <p:sp>
        <p:nvSpPr>
          <p:cNvPr id="518" name="Google Shape;518;p25"/>
          <p:cNvSpPr txBox="1"/>
          <p:nvPr/>
        </p:nvSpPr>
        <p:spPr>
          <a:xfrm>
            <a:off x="5394960" y="4553712"/>
            <a:ext cx="28346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56A0"/>
                </a:solidFill>
                <a:latin typeface="Calibri"/>
                <a:ea typeface="Calibri"/>
                <a:cs typeface="Calibri"/>
                <a:sym typeface="Calibri"/>
              </a:rPr>
              <a:t>NPS do atendimento ≥ 60</a:t>
            </a:r>
            <a:br>
              <a:rPr b="1" i="0" lang="en-US" sz="800" u="none" cap="none" strike="noStrike">
                <a:solidFill>
                  <a:srgbClr val="1E56A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00" u="none" cap="none" strike="noStrike">
                <a:solidFill>
                  <a:srgbClr val="1E56A0"/>
                </a:solidFill>
                <a:latin typeface="Calibri"/>
                <a:ea typeface="Calibri"/>
                <a:cs typeface="Calibri"/>
                <a:sym typeface="Calibri"/>
              </a:rPr>
              <a:t>(benchmark setor: ~50)</a:t>
            </a:r>
            <a:endParaRPr/>
          </a:p>
        </p:txBody>
      </p:sp>
      <p:sp>
        <p:nvSpPr>
          <p:cNvPr id="519" name="Google Shape;519;p25"/>
          <p:cNvSpPr txBox="1"/>
          <p:nvPr/>
        </p:nvSpPr>
        <p:spPr>
          <a:xfrm>
            <a:off x="8366760" y="4553712"/>
            <a:ext cx="242316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Vista 360 &lt; 1s</a:t>
            </a:r>
            <a:br>
              <a:rPr b="1" i="0" lang="en-US" sz="8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Onboarding &lt; 15 min</a:t>
            </a:r>
            <a:endParaRPr/>
          </a:p>
        </p:txBody>
      </p:sp>
      <p:sp>
        <p:nvSpPr>
          <p:cNvPr id="520" name="Google Shape;520;p25"/>
          <p:cNvSpPr/>
          <p:nvPr/>
        </p:nvSpPr>
        <p:spPr>
          <a:xfrm>
            <a:off x="10972800" y="4599431"/>
            <a:ext cx="1005840" cy="356616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5"/>
          <p:cNvSpPr txBox="1"/>
          <p:nvPr/>
        </p:nvSpPr>
        <p:spPr>
          <a:xfrm>
            <a:off x="10972800" y="4617719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MÉDIA</a:t>
            </a:r>
            <a:endParaRPr/>
          </a:p>
        </p:txBody>
      </p:sp>
      <p:sp>
        <p:nvSpPr>
          <p:cNvPr id="522" name="Google Shape;522;p25"/>
          <p:cNvSpPr/>
          <p:nvPr/>
        </p:nvSpPr>
        <p:spPr>
          <a:xfrm>
            <a:off x="137160" y="5084064"/>
            <a:ext cx="11887200" cy="539496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5"/>
          <p:cNvSpPr txBox="1"/>
          <p:nvPr/>
        </p:nvSpPr>
        <p:spPr>
          <a:xfrm>
            <a:off x="182880" y="5111496"/>
            <a:ext cx="182880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Dono modelo recente</a:t>
            </a:r>
            <a:endParaRPr/>
          </a:p>
        </p:txBody>
      </p:sp>
      <p:sp>
        <p:nvSpPr>
          <p:cNvPr id="524" name="Google Shape;524;p25"/>
          <p:cNvSpPr txBox="1"/>
          <p:nvPr/>
        </p:nvSpPr>
        <p:spPr>
          <a:xfrm>
            <a:off x="2148840" y="5111496"/>
            <a:ext cx="30632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App: revisão por km/meses,</a:t>
            </a:r>
            <a:br>
              <a:rPr b="0" i="0" lang="en-US" sz="8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Ford Care pré-pago, agendam. 1 toque</a:t>
            </a:r>
            <a:endParaRPr/>
          </a:p>
        </p:txBody>
      </p:sp>
      <p:sp>
        <p:nvSpPr>
          <p:cNvPr id="525" name="Google Shape;525;p25"/>
          <p:cNvSpPr txBox="1"/>
          <p:nvPr/>
        </p:nvSpPr>
        <p:spPr>
          <a:xfrm>
            <a:off x="5394960" y="5111496"/>
            <a:ext cx="28346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56A0"/>
                </a:solidFill>
                <a:latin typeface="Calibri"/>
                <a:ea typeface="Calibri"/>
                <a:cs typeface="Calibri"/>
                <a:sym typeface="Calibri"/>
              </a:rPr>
              <a:t>Adoção Ford Care ≥ 20%</a:t>
            </a:r>
            <a:br>
              <a:rPr b="1" i="0" lang="en-US" sz="800" u="none" cap="none" strike="noStrike">
                <a:solidFill>
                  <a:srgbClr val="1E56A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00" u="none" cap="none" strike="noStrike">
                <a:solidFill>
                  <a:srgbClr val="1E56A0"/>
                </a:solidFill>
                <a:latin typeface="Calibri"/>
                <a:ea typeface="Calibri"/>
                <a:cs typeface="Calibri"/>
                <a:sym typeface="Calibri"/>
              </a:rPr>
              <a:t>dos elegíveis em 12 meses</a:t>
            </a:r>
            <a:endParaRPr/>
          </a:p>
        </p:txBody>
      </p:sp>
      <p:sp>
        <p:nvSpPr>
          <p:cNvPr id="526" name="Google Shape;526;p25"/>
          <p:cNvSpPr txBox="1"/>
          <p:nvPr/>
        </p:nvSpPr>
        <p:spPr>
          <a:xfrm>
            <a:off x="8366760" y="5111496"/>
            <a:ext cx="242316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App carrega &lt; 2s</a:t>
            </a:r>
            <a:br>
              <a:rPr b="1" i="0" lang="en-US" sz="8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Push notif. &lt; 5s</a:t>
            </a:r>
            <a:endParaRPr/>
          </a:p>
        </p:txBody>
      </p:sp>
      <p:sp>
        <p:nvSpPr>
          <p:cNvPr id="527" name="Google Shape;527;p25"/>
          <p:cNvSpPr/>
          <p:nvPr/>
        </p:nvSpPr>
        <p:spPr>
          <a:xfrm>
            <a:off x="10972800" y="5157216"/>
            <a:ext cx="1005840" cy="356616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5"/>
          <p:cNvSpPr txBox="1"/>
          <p:nvPr/>
        </p:nvSpPr>
        <p:spPr>
          <a:xfrm>
            <a:off x="10972800" y="5175504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MÉDIA</a:t>
            </a:r>
            <a:endParaRPr/>
          </a:p>
        </p:txBody>
      </p:sp>
      <p:sp>
        <p:nvSpPr>
          <p:cNvPr id="529" name="Google Shape;529;p25"/>
          <p:cNvSpPr/>
          <p:nvPr/>
        </p:nvSpPr>
        <p:spPr>
          <a:xfrm>
            <a:off x="137160" y="5641848"/>
            <a:ext cx="11887200" cy="5394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5"/>
          <p:cNvSpPr txBox="1"/>
          <p:nvPr/>
        </p:nvSpPr>
        <p:spPr>
          <a:xfrm>
            <a:off x="182880" y="5669280"/>
            <a:ext cx="182880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Equipe ForwardService</a:t>
            </a:r>
            <a:endParaRPr/>
          </a:p>
        </p:txBody>
      </p:sp>
      <p:sp>
        <p:nvSpPr>
          <p:cNvPr id="531" name="Google Shape;531;p25"/>
          <p:cNvSpPr txBox="1"/>
          <p:nvPr/>
        </p:nvSpPr>
        <p:spPr>
          <a:xfrm>
            <a:off x="2148840" y="5669280"/>
            <a:ext cx="30632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Flywheel: precisão cresce com uso.</a:t>
            </a:r>
            <a:br>
              <a:rPr b="0" i="0" lang="en-US" sz="8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SOA: cada componente evolui sozinho</a:t>
            </a:r>
            <a:endParaRPr/>
          </a:p>
        </p:txBody>
      </p:sp>
      <p:sp>
        <p:nvSpPr>
          <p:cNvPr id="532" name="Google Shape;532;p25"/>
          <p:cNvSpPr txBox="1"/>
          <p:nvPr/>
        </p:nvSpPr>
        <p:spPr>
          <a:xfrm>
            <a:off x="5394960" y="5669280"/>
            <a:ext cx="28346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56A0"/>
                </a:solidFill>
                <a:latin typeface="Calibri"/>
                <a:ea typeface="Calibri"/>
                <a:cs typeface="Calibri"/>
                <a:sym typeface="Calibri"/>
              </a:rPr>
              <a:t>Precisão ML: 70%→80%→90%</a:t>
            </a:r>
            <a:br>
              <a:rPr b="1" i="0" lang="en-US" sz="800" u="none" cap="none" strike="noStrike">
                <a:solidFill>
                  <a:srgbClr val="1E56A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00" u="none" cap="none" strike="noStrike">
                <a:solidFill>
                  <a:srgbClr val="1E56A0"/>
                </a:solidFill>
                <a:latin typeface="Calibri"/>
                <a:ea typeface="Calibri"/>
                <a:cs typeface="Calibri"/>
                <a:sym typeface="Calibri"/>
              </a:rPr>
              <a:t>(mês 1 → 6 → ano 2)</a:t>
            </a:r>
            <a:endParaRPr/>
          </a:p>
        </p:txBody>
      </p:sp>
      <p:sp>
        <p:nvSpPr>
          <p:cNvPr id="533" name="Google Shape;533;p25"/>
          <p:cNvSpPr txBox="1"/>
          <p:nvPr/>
        </p:nvSpPr>
        <p:spPr>
          <a:xfrm>
            <a:off x="8366760" y="5669280"/>
            <a:ext cx="242316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Cobertura testes ≥ 70%</a:t>
            </a:r>
            <a:br>
              <a:rPr b="1" i="0" lang="en-US" sz="8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Deploy zero downtime</a:t>
            </a:r>
            <a:endParaRPr/>
          </a:p>
        </p:txBody>
      </p:sp>
      <p:sp>
        <p:nvSpPr>
          <p:cNvPr id="534" name="Google Shape;534;p25"/>
          <p:cNvSpPr/>
          <p:nvPr/>
        </p:nvSpPr>
        <p:spPr>
          <a:xfrm>
            <a:off x="10972800" y="5715000"/>
            <a:ext cx="1005840" cy="356616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5"/>
          <p:cNvSpPr txBox="1"/>
          <p:nvPr/>
        </p:nvSpPr>
        <p:spPr>
          <a:xfrm>
            <a:off x="10972800" y="5733288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MÉDIA</a:t>
            </a:r>
            <a:endParaRPr/>
          </a:p>
        </p:txBody>
      </p:sp>
      <p:sp>
        <p:nvSpPr>
          <p:cNvPr id="536" name="Google Shape;536;p25"/>
          <p:cNvSpPr txBox="1"/>
          <p:nvPr/>
        </p:nvSpPr>
        <p:spPr>
          <a:xfrm>
            <a:off x="274320" y="5989320"/>
            <a:ext cx="1161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647487"/>
                </a:solidFill>
                <a:latin typeface="Calibri"/>
                <a:ea typeface="Calibri"/>
                <a:cs typeface="Calibri"/>
                <a:sym typeface="Calibri"/>
              </a:rPr>
              <a:t>Documento completo: QUADRO_DE_VALOR.html / PDF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6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6"/>
          <p:cNvSpPr txBox="1"/>
          <p:nvPr/>
        </p:nvSpPr>
        <p:spPr>
          <a:xfrm>
            <a:off x="274320" y="45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/>
          </a:p>
        </p:txBody>
      </p:sp>
      <p:sp>
        <p:nvSpPr>
          <p:cNvPr id="544" name="Google Shape;544;p26"/>
          <p:cNvSpPr txBox="1"/>
          <p:nvPr/>
        </p:nvSpPr>
        <p:spPr>
          <a:xfrm>
            <a:off x="274320" y="411480"/>
            <a:ext cx="10972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Roadmap — Sprint 1, 2, 3 e 4</a:t>
            </a:r>
            <a:endParaRPr/>
          </a:p>
        </p:txBody>
      </p:sp>
      <p:sp>
        <p:nvSpPr>
          <p:cNvPr id="545" name="Google Shape;545;p26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6"/>
          <p:cNvSpPr/>
          <p:nvPr/>
        </p:nvSpPr>
        <p:spPr>
          <a:xfrm>
            <a:off x="274320" y="1143000"/>
            <a:ext cx="3749039" cy="5394960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6"/>
          <p:cNvSpPr txBox="1"/>
          <p:nvPr/>
        </p:nvSpPr>
        <p:spPr>
          <a:xfrm>
            <a:off x="457200" y="1234440"/>
            <a:ext cx="347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1 e 2</a:t>
            </a:r>
            <a:endParaRPr/>
          </a:p>
        </p:txBody>
      </p:sp>
      <p:sp>
        <p:nvSpPr>
          <p:cNvPr id="548" name="Google Shape;548;p26"/>
          <p:cNvSpPr/>
          <p:nvPr/>
        </p:nvSpPr>
        <p:spPr>
          <a:xfrm>
            <a:off x="274320" y="1920240"/>
            <a:ext cx="3749039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6"/>
          <p:cNvSpPr txBox="1"/>
          <p:nvPr/>
        </p:nvSpPr>
        <p:spPr>
          <a:xfrm>
            <a:off x="457200" y="2011680"/>
            <a:ext cx="35204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ML completo: EDA + K-means + XGBoost + Survival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Backend Java: REST + SOAP + Flyway + Swagger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Mobile: 3 telas dual-mode (Ford + Cliente)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Dashboard web: Visão da frota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n8n: 1 flow WhatsApp live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Infra: Azure VM + Postgres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Pitch + Canvas + TOGAF + Vídeo (QA)</a:t>
            </a:r>
            <a:endParaRPr/>
          </a:p>
        </p:txBody>
      </p:sp>
      <p:sp>
        <p:nvSpPr>
          <p:cNvPr id="550" name="Google Shape;550;p26"/>
          <p:cNvSpPr/>
          <p:nvPr/>
        </p:nvSpPr>
        <p:spPr>
          <a:xfrm>
            <a:off x="4251959" y="1143000"/>
            <a:ext cx="3749039" cy="539496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6"/>
          <p:cNvSpPr txBox="1"/>
          <p:nvPr/>
        </p:nvSpPr>
        <p:spPr>
          <a:xfrm>
            <a:off x="4434840" y="1234440"/>
            <a:ext cx="3474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</a:t>
            </a: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552" name="Google Shape;552;p26"/>
          <p:cNvSpPr/>
          <p:nvPr/>
        </p:nvSpPr>
        <p:spPr>
          <a:xfrm>
            <a:off x="4251959" y="1920240"/>
            <a:ext cx="3749039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6"/>
          <p:cNvSpPr txBox="1"/>
          <p:nvPr/>
        </p:nvSpPr>
        <p:spPr>
          <a:xfrm>
            <a:off x="4434840" y="2011680"/>
            <a:ext cx="35204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Recomendador via ML (substitui regras)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Performance Console completo (drill-down, export)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Recall Gateway com 12 campanhas Senacon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Multi-canal: SMS + email + push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Closed-Loop ROI completo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Anonimização full (LGPD) em repouso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Testes automatizados end-to-end</a:t>
            </a:r>
            <a:endParaRPr/>
          </a:p>
        </p:txBody>
      </p:sp>
      <p:sp>
        <p:nvSpPr>
          <p:cNvPr id="554" name="Google Shape;554;p26"/>
          <p:cNvSpPr/>
          <p:nvPr/>
        </p:nvSpPr>
        <p:spPr>
          <a:xfrm>
            <a:off x="8229600" y="1143000"/>
            <a:ext cx="3749039" cy="539496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6"/>
          <p:cNvSpPr txBox="1"/>
          <p:nvPr/>
        </p:nvSpPr>
        <p:spPr>
          <a:xfrm>
            <a:off x="8412480" y="1234440"/>
            <a:ext cx="3474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4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556" name="Google Shape;556;p26"/>
          <p:cNvSpPr/>
          <p:nvPr/>
        </p:nvSpPr>
        <p:spPr>
          <a:xfrm>
            <a:off x="8229600" y="1920240"/>
            <a:ext cx="3749039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6"/>
          <p:cNvSpPr txBox="1"/>
          <p:nvPr/>
        </p:nvSpPr>
        <p:spPr>
          <a:xfrm>
            <a:off x="8412480" y="2011680"/>
            <a:ext cx="35204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Integração com DMS (quando Ford disponibilizar)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Rede Invertida + mapeamento de desertos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Ford Care (planos pré-pagos) no app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Ponte Serviço-Venda (lead de recompra)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Admin de configuração de regras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MFA + criptografia avançada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Piloto real com dealer parceiro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7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7"/>
          <p:cNvSpPr txBox="1"/>
          <p:nvPr/>
        </p:nvSpPr>
        <p:spPr>
          <a:xfrm>
            <a:off x="274320" y="45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EQUIPE</a:t>
            </a:r>
            <a:endParaRPr/>
          </a:p>
        </p:txBody>
      </p:sp>
      <p:sp>
        <p:nvSpPr>
          <p:cNvPr id="565" name="Google Shape;565;p27"/>
          <p:cNvSpPr txBox="1"/>
          <p:nvPr/>
        </p:nvSpPr>
        <p:spPr>
          <a:xfrm>
            <a:off x="274320" y="411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Equipe ForwardService — FIAP 2026</a:t>
            </a:r>
            <a:endParaRPr/>
          </a:p>
        </p:txBody>
      </p:sp>
      <p:sp>
        <p:nvSpPr>
          <p:cNvPr id="566" name="Google Shape;566;p27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7"/>
          <p:cNvSpPr/>
          <p:nvPr/>
        </p:nvSpPr>
        <p:spPr>
          <a:xfrm>
            <a:off x="365760" y="1188720"/>
            <a:ext cx="2834640" cy="50292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7"/>
          <p:cNvSpPr/>
          <p:nvPr/>
        </p:nvSpPr>
        <p:spPr>
          <a:xfrm>
            <a:off x="365760" y="1188720"/>
            <a:ext cx="2834640" cy="54864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7"/>
          <p:cNvSpPr/>
          <p:nvPr/>
        </p:nvSpPr>
        <p:spPr>
          <a:xfrm>
            <a:off x="868680" y="1371600"/>
            <a:ext cx="1828800" cy="182880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7"/>
          <p:cNvSpPr txBox="1"/>
          <p:nvPr/>
        </p:nvSpPr>
        <p:spPr>
          <a:xfrm>
            <a:off x="868680" y="155448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7"/>
          <p:cNvSpPr txBox="1"/>
          <p:nvPr/>
        </p:nvSpPr>
        <p:spPr>
          <a:xfrm>
            <a:off x="502920" y="32918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Rodrigo Jimenez</a:t>
            </a:r>
            <a:endParaRPr/>
          </a:p>
        </p:txBody>
      </p:sp>
      <p:sp>
        <p:nvSpPr>
          <p:cNvPr id="572" name="Google Shape;572;p27"/>
          <p:cNvSpPr txBox="1"/>
          <p:nvPr/>
        </p:nvSpPr>
        <p:spPr>
          <a:xfrm>
            <a:off x="502920" y="39319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RM: 558148</a:t>
            </a:r>
            <a:endParaRPr/>
          </a:p>
        </p:txBody>
      </p:sp>
      <p:sp>
        <p:nvSpPr>
          <p:cNvPr id="573" name="Google Shape;573;p27"/>
          <p:cNvSpPr/>
          <p:nvPr/>
        </p:nvSpPr>
        <p:spPr>
          <a:xfrm>
            <a:off x="365760" y="4315968"/>
            <a:ext cx="2834640" cy="36576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7"/>
          <p:cNvSpPr txBox="1"/>
          <p:nvPr/>
        </p:nvSpPr>
        <p:spPr>
          <a:xfrm>
            <a:off x="502920" y="4407408"/>
            <a:ext cx="25603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Testing/QA · Arquitetura TOGAF</a:t>
            </a:r>
            <a:b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Pitch · Canvas · Quadro de Valor</a:t>
            </a:r>
            <a:b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Coordenação dos artefatos acadêmicos</a:t>
            </a:r>
            <a:endParaRPr/>
          </a:p>
        </p:txBody>
      </p:sp>
      <p:sp>
        <p:nvSpPr>
          <p:cNvPr id="575" name="Google Shape;575;p27"/>
          <p:cNvSpPr/>
          <p:nvPr/>
        </p:nvSpPr>
        <p:spPr>
          <a:xfrm>
            <a:off x="3200400" y="1188720"/>
            <a:ext cx="2834640" cy="50292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7"/>
          <p:cNvSpPr/>
          <p:nvPr/>
        </p:nvSpPr>
        <p:spPr>
          <a:xfrm>
            <a:off x="3200400" y="1188720"/>
            <a:ext cx="2834640" cy="54864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7"/>
          <p:cNvSpPr/>
          <p:nvPr/>
        </p:nvSpPr>
        <p:spPr>
          <a:xfrm>
            <a:off x="3703320" y="1371600"/>
            <a:ext cx="1828800" cy="182880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7"/>
          <p:cNvSpPr txBox="1"/>
          <p:nvPr/>
        </p:nvSpPr>
        <p:spPr>
          <a:xfrm>
            <a:off x="3703320" y="1554480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/>
          </a:p>
        </p:txBody>
      </p:sp>
      <p:sp>
        <p:nvSpPr>
          <p:cNvPr id="579" name="Google Shape;579;p27"/>
          <p:cNvSpPr txBox="1"/>
          <p:nvPr/>
        </p:nvSpPr>
        <p:spPr>
          <a:xfrm>
            <a:off x="3337560" y="32918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João Victor Franco</a:t>
            </a:r>
            <a:endParaRPr/>
          </a:p>
        </p:txBody>
      </p:sp>
      <p:sp>
        <p:nvSpPr>
          <p:cNvPr id="580" name="Google Shape;580;p27"/>
          <p:cNvSpPr txBox="1"/>
          <p:nvPr/>
        </p:nvSpPr>
        <p:spPr>
          <a:xfrm>
            <a:off x="3337560" y="39319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RM: 556790</a:t>
            </a:r>
            <a:endParaRPr/>
          </a:p>
        </p:txBody>
      </p:sp>
      <p:sp>
        <p:nvSpPr>
          <p:cNvPr id="581" name="Google Shape;581;p27"/>
          <p:cNvSpPr/>
          <p:nvPr/>
        </p:nvSpPr>
        <p:spPr>
          <a:xfrm>
            <a:off x="3200400" y="4315968"/>
            <a:ext cx="2834640" cy="36576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7"/>
          <p:cNvSpPr txBox="1"/>
          <p:nvPr/>
        </p:nvSpPr>
        <p:spPr>
          <a:xfrm>
            <a:off x="3337560" y="4407408"/>
            <a:ext cx="256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Liderança técnica · Documentação</a:t>
            </a:r>
            <a:b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Specs TOGAF</a:t>
            </a:r>
            <a:b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Integração entre disciplinas</a:t>
            </a:r>
            <a:endParaRPr/>
          </a:p>
        </p:txBody>
      </p:sp>
      <p:sp>
        <p:nvSpPr>
          <p:cNvPr id="583" name="Google Shape;583;p27"/>
          <p:cNvSpPr/>
          <p:nvPr/>
        </p:nvSpPr>
        <p:spPr>
          <a:xfrm>
            <a:off x="6035040" y="1188720"/>
            <a:ext cx="2834640" cy="50292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7"/>
          <p:cNvSpPr/>
          <p:nvPr/>
        </p:nvSpPr>
        <p:spPr>
          <a:xfrm>
            <a:off x="6035040" y="1188720"/>
            <a:ext cx="2834640" cy="54864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7"/>
          <p:cNvSpPr/>
          <p:nvPr/>
        </p:nvSpPr>
        <p:spPr>
          <a:xfrm>
            <a:off x="6537959" y="1371600"/>
            <a:ext cx="1828800" cy="182880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7"/>
          <p:cNvSpPr txBox="1"/>
          <p:nvPr/>
        </p:nvSpPr>
        <p:spPr>
          <a:xfrm>
            <a:off x="6537959" y="1554480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/>
          </a:p>
        </p:txBody>
      </p:sp>
      <p:sp>
        <p:nvSpPr>
          <p:cNvPr id="587" name="Google Shape;587;p27"/>
          <p:cNvSpPr txBox="1"/>
          <p:nvPr/>
        </p:nvSpPr>
        <p:spPr>
          <a:xfrm>
            <a:off x="6172200" y="32918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Lucca Borges</a:t>
            </a:r>
            <a:endParaRPr/>
          </a:p>
        </p:txBody>
      </p:sp>
      <p:sp>
        <p:nvSpPr>
          <p:cNvPr id="588" name="Google Shape;588;p27"/>
          <p:cNvSpPr txBox="1"/>
          <p:nvPr/>
        </p:nvSpPr>
        <p:spPr>
          <a:xfrm>
            <a:off x="6172200" y="39319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RM: 554608</a:t>
            </a:r>
            <a:endParaRPr/>
          </a:p>
        </p:txBody>
      </p:sp>
      <p:sp>
        <p:nvSpPr>
          <p:cNvPr id="589" name="Google Shape;589;p27"/>
          <p:cNvSpPr/>
          <p:nvPr/>
        </p:nvSpPr>
        <p:spPr>
          <a:xfrm>
            <a:off x="6035040" y="4315968"/>
            <a:ext cx="2834640" cy="36576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7"/>
          <p:cNvSpPr txBox="1"/>
          <p:nvPr/>
        </p:nvSpPr>
        <p:spPr>
          <a:xfrm>
            <a:off x="6172200" y="4407408"/>
            <a:ext cx="25603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b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EDA · Feature Engineering</a:t>
            </a:r>
            <a:b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K-means · XGBoost · Survival Analysis</a:t>
            </a:r>
            <a:endParaRPr/>
          </a:p>
        </p:txBody>
      </p:sp>
      <p:sp>
        <p:nvSpPr>
          <p:cNvPr id="591" name="Google Shape;591;p27"/>
          <p:cNvSpPr/>
          <p:nvPr/>
        </p:nvSpPr>
        <p:spPr>
          <a:xfrm>
            <a:off x="8869680" y="1188720"/>
            <a:ext cx="2834640" cy="50292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7"/>
          <p:cNvSpPr/>
          <p:nvPr/>
        </p:nvSpPr>
        <p:spPr>
          <a:xfrm>
            <a:off x="8869680" y="1188720"/>
            <a:ext cx="2834640" cy="54864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7"/>
          <p:cNvSpPr/>
          <p:nvPr/>
        </p:nvSpPr>
        <p:spPr>
          <a:xfrm>
            <a:off x="9372600" y="1371600"/>
            <a:ext cx="1828800" cy="182880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7"/>
          <p:cNvSpPr txBox="1"/>
          <p:nvPr/>
        </p:nvSpPr>
        <p:spPr>
          <a:xfrm>
            <a:off x="9372600" y="1581934"/>
            <a:ext cx="1828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/>
          </a:p>
        </p:txBody>
      </p:sp>
      <p:sp>
        <p:nvSpPr>
          <p:cNvPr id="595" name="Google Shape;595;p27"/>
          <p:cNvSpPr txBox="1"/>
          <p:nvPr/>
        </p:nvSpPr>
        <p:spPr>
          <a:xfrm>
            <a:off x="9006840" y="32918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Ruan Melo</a:t>
            </a:r>
            <a:endParaRPr/>
          </a:p>
        </p:txBody>
      </p:sp>
      <p:sp>
        <p:nvSpPr>
          <p:cNvPr id="596" name="Google Shape;596;p27"/>
          <p:cNvSpPr txBox="1"/>
          <p:nvPr/>
        </p:nvSpPr>
        <p:spPr>
          <a:xfrm>
            <a:off x="9006840" y="39319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RM: 557599</a:t>
            </a:r>
            <a:endParaRPr/>
          </a:p>
        </p:txBody>
      </p:sp>
      <p:sp>
        <p:nvSpPr>
          <p:cNvPr id="597" name="Google Shape;597;p27"/>
          <p:cNvSpPr/>
          <p:nvPr/>
        </p:nvSpPr>
        <p:spPr>
          <a:xfrm>
            <a:off x="8869680" y="4315968"/>
            <a:ext cx="2834640" cy="36576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7"/>
          <p:cNvSpPr txBox="1"/>
          <p:nvPr/>
        </p:nvSpPr>
        <p:spPr>
          <a:xfrm>
            <a:off x="9006840" y="4407408"/>
            <a:ext cx="25603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Backend Java</a:t>
            </a:r>
            <a:b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SOA · REST + SOAP</a:t>
            </a:r>
            <a:b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Spring Boot 3 · Flyway · Cyber</a:t>
            </a:r>
            <a:endParaRPr/>
          </a:p>
        </p:txBody>
      </p:sp>
      <p:sp>
        <p:nvSpPr>
          <p:cNvPr id="599" name="Google Shape;599;p27"/>
          <p:cNvSpPr txBox="1"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00274A"/>
                </a:solidFill>
                <a:latin typeface="Calibri"/>
                <a:ea typeface="Calibri"/>
                <a:cs typeface="Calibri"/>
                <a:sym typeface="Calibri"/>
              </a:rPr>
              <a:t>Disciplina: Testing, Compliance &amp; Quality Assurance — Prof. Elias Bernardo</a:t>
            </a:r>
            <a:endParaRPr/>
          </a:p>
        </p:txBody>
      </p:sp>
      <p:pic>
        <p:nvPicPr>
          <p:cNvPr id="600" name="Google Shape;600;p27" title="WhatsApp Image 2026-05-24 at 18.04.38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2600" y="1346158"/>
            <a:ext cx="1828800" cy="1843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27" title="ftPerfil.jpg"/>
          <p:cNvPicPr preferRelativeResize="0"/>
          <p:nvPr/>
        </p:nvPicPr>
        <p:blipFill rotWithShape="1">
          <a:blip r:embed="rId4">
            <a:alphaModFix/>
          </a:blip>
          <a:srcRect b="0" l="0" r="0" t="22887"/>
          <a:stretch/>
        </p:blipFill>
        <p:spPr>
          <a:xfrm>
            <a:off x="893763" y="1353301"/>
            <a:ext cx="1778634" cy="1828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27" title="lucc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7969" y="1371600"/>
            <a:ext cx="1828800" cy="1833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7" title="imag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90925" y="1351599"/>
            <a:ext cx="2007650" cy="1938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7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8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8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8"/>
          <p:cNvSpPr txBox="1"/>
          <p:nvPr/>
        </p:nvSpPr>
        <p:spPr>
          <a:xfrm>
            <a:off x="365760" y="45720"/>
            <a:ext cx="11430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96302"/>
                </a:solidFill>
                <a:latin typeface="Calibri"/>
                <a:ea typeface="Calibri"/>
                <a:cs typeface="Calibri"/>
                <a:sym typeface="Calibri"/>
              </a:rPr>
              <a:t>PRÓXIMOS PASSOS</a:t>
            </a:r>
            <a:endParaRPr/>
          </a:p>
        </p:txBody>
      </p:sp>
      <p:sp>
        <p:nvSpPr>
          <p:cNvPr id="612" name="Google Shape;612;p28"/>
          <p:cNvSpPr txBox="1"/>
          <p:nvPr/>
        </p:nvSpPr>
        <p:spPr>
          <a:xfrm>
            <a:off x="365760" y="41148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vem depois do Sprint 1</a:t>
            </a:r>
            <a:endParaRPr/>
          </a:p>
        </p:txBody>
      </p:sp>
      <p:sp>
        <p:nvSpPr>
          <p:cNvPr id="613" name="Google Shape;613;p28"/>
          <p:cNvSpPr/>
          <p:nvPr/>
        </p:nvSpPr>
        <p:spPr>
          <a:xfrm>
            <a:off x="365760" y="1097280"/>
            <a:ext cx="411480" cy="411480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8"/>
          <p:cNvSpPr txBox="1"/>
          <p:nvPr/>
        </p:nvSpPr>
        <p:spPr>
          <a:xfrm>
            <a:off x="365760" y="10972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15" name="Google Shape;615;p28"/>
          <p:cNvSpPr txBox="1"/>
          <p:nvPr/>
        </p:nvSpPr>
        <p:spPr>
          <a:xfrm>
            <a:off x="914400" y="1115568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Recomendador via ML + Recall Gateway com 12 campanhas + Performance Console completo</a:t>
            </a:r>
            <a:endParaRPr/>
          </a:p>
        </p:txBody>
      </p:sp>
      <p:sp>
        <p:nvSpPr>
          <p:cNvPr id="616" name="Google Shape;616;p28"/>
          <p:cNvSpPr/>
          <p:nvPr/>
        </p:nvSpPr>
        <p:spPr>
          <a:xfrm>
            <a:off x="365760" y="1920240"/>
            <a:ext cx="411480" cy="411480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8"/>
          <p:cNvSpPr txBox="1"/>
          <p:nvPr/>
        </p:nvSpPr>
        <p:spPr>
          <a:xfrm>
            <a:off x="365760" y="19202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18" name="Google Shape;618;p28"/>
          <p:cNvSpPr txBox="1"/>
          <p:nvPr/>
        </p:nvSpPr>
        <p:spPr>
          <a:xfrm>
            <a:off x="914400" y="1938528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Integração DMS (quando Ford disponibilizar) + Ford Care no app + Rede Invertida</a:t>
            </a:r>
            <a:endParaRPr/>
          </a:p>
        </p:txBody>
      </p:sp>
      <p:sp>
        <p:nvSpPr>
          <p:cNvPr id="619" name="Google Shape;619;p28"/>
          <p:cNvSpPr/>
          <p:nvPr/>
        </p:nvSpPr>
        <p:spPr>
          <a:xfrm>
            <a:off x="365760" y="2743200"/>
            <a:ext cx="411480" cy="411480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8"/>
          <p:cNvSpPr txBox="1"/>
          <p:nvPr/>
        </p:nvSpPr>
        <p:spPr>
          <a:xfrm>
            <a:off x="365760" y="27432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21" name="Google Shape;621;p28"/>
          <p:cNvSpPr txBox="1"/>
          <p:nvPr/>
        </p:nvSpPr>
        <p:spPr>
          <a:xfrm>
            <a:off x="914400" y="2761488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4 — Piloto real com dealer parceiro + MFA + criptografia avançada + Ponte Serviço-Venda</a:t>
            </a:r>
            <a:endParaRPr/>
          </a:p>
        </p:txBody>
      </p:sp>
      <p:sp>
        <p:nvSpPr>
          <p:cNvPr id="622" name="Google Shape;622;p28"/>
          <p:cNvSpPr/>
          <p:nvPr/>
        </p:nvSpPr>
        <p:spPr>
          <a:xfrm>
            <a:off x="365760" y="3566160"/>
            <a:ext cx="411480" cy="411480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8"/>
          <p:cNvSpPr txBox="1"/>
          <p:nvPr/>
        </p:nvSpPr>
        <p:spPr>
          <a:xfrm>
            <a:off x="365760" y="35661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24" name="Google Shape;624;p28"/>
          <p:cNvSpPr txBox="1"/>
          <p:nvPr/>
        </p:nvSpPr>
        <p:spPr>
          <a:xfrm>
            <a:off x="914400" y="3584448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Visão futura — FastAPI para o Classificador · Multi-idioma EN/ES · Admin de regras · Dark mode</a:t>
            </a:r>
            <a:endParaRPr/>
          </a:p>
        </p:txBody>
      </p:sp>
      <p:sp>
        <p:nvSpPr>
          <p:cNvPr id="625" name="Google Shape;625;p28"/>
          <p:cNvSpPr/>
          <p:nvPr/>
        </p:nvSpPr>
        <p:spPr>
          <a:xfrm>
            <a:off x="0" y="4480560"/>
            <a:ext cx="12188952" cy="2377440"/>
          </a:xfrm>
          <a:prstGeom prst="rect">
            <a:avLst/>
          </a:prstGeom>
          <a:solidFill>
            <a:srgbClr val="1E56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8"/>
          <p:cNvSpPr/>
          <p:nvPr/>
        </p:nvSpPr>
        <p:spPr>
          <a:xfrm>
            <a:off x="0" y="4453128"/>
            <a:ext cx="12188952" cy="54864"/>
          </a:xfrm>
          <a:prstGeom prst="rect">
            <a:avLst/>
          </a:prstGeom>
          <a:solidFill>
            <a:srgbClr val="F9630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8"/>
          <p:cNvSpPr txBox="1"/>
          <p:nvPr/>
        </p:nvSpPr>
        <p:spPr>
          <a:xfrm>
            <a:off x="457200" y="46177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Obrigado!</a:t>
            </a:r>
            <a:endParaRPr/>
          </a:p>
        </p:txBody>
      </p:sp>
      <p:sp>
        <p:nvSpPr>
          <p:cNvPr id="628" name="Google Shape;628;p28"/>
          <p:cNvSpPr txBox="1"/>
          <p:nvPr/>
        </p:nvSpPr>
        <p:spPr>
          <a:xfrm>
            <a:off x="457200" y="557784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ForwardService — "A Ford saiu da fábrica, não da sua vida."</a:t>
            </a:r>
            <a:endParaRPr/>
          </a:p>
        </p:txBody>
      </p:sp>
      <p:sp>
        <p:nvSpPr>
          <p:cNvPr id="629" name="Google Shape;629;p28"/>
          <p:cNvSpPr txBox="1"/>
          <p:nvPr/>
        </p:nvSpPr>
        <p:spPr>
          <a:xfrm>
            <a:off x="457200" y="6172200"/>
            <a:ext cx="11247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Código: github.com/fwd-ford   |   Vídeo: https://youtu.be/EbFjxzzq1Lw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