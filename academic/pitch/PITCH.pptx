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88952" cy="73152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96302"/>
                </a:solidFill>
              </a:rPr>
              <a:t>FORD CHALLENGE — FIAP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ForwardService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0F4F8"/>
                </a:solidFill>
              </a:rPr>
              <a:t>Plataforma de Retenção Pós-Venda Ford Brasil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96302"/>
                </a:solidFill>
              </a:rPr>
              <a:t>Inteligência + Automação + ROI Mensurável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Rodrigo Jimenez — RM: [PREENCHER]          Jota Mendes — RM: [PREENCHER]
Lucca [Sobrenome] — RM: [PREENCHER]         Ruan [Sobrenome] — RM: [PREENCHER]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4F8"/>
                </a:solidFill>
              </a:rPr>
              <a:t>Testing, Compliance &amp; Quality Assurance — Prof. Elias Bernardo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32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Sprint 1 — Maio 2026     |     Vídeo Pitch: [INSERIR LINK APÓS GRAVAR]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problema exclusivo da Ford Brasil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468880" cy="12801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~12,4M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veículos Ford
em circulação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188720"/>
            <a:ext cx="2468880" cy="12801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são modelos
descontinuados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1188720"/>
            <a:ext cx="2468880" cy="12801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concessionárias
(era 283 em 2021)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188720"/>
            <a:ext cx="2468880" cy="12801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2344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~4%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87451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VIN Share — só 4%
da frota usa a rede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6517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74A"/>
                </a:solidFill>
              </a:rPr>
              <a:t>A Curva da Morte — retenção colapsa a cada revisão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6324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1ª revisão: 31% dos VINs retornam   →   2ª: 22%   →   3ª: 15%   →   4ª: 9%</a:t>
            </a:r>
          </a:p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Cada degrau perde 30–40% dos clientes anteriores  (dado real Ford, 602k eventos)</a:t>
            </a:r>
          </a:p>
          <a:p>
            <a:pPr>
              <a:spcAft>
                <a:spcPts val="400"/>
              </a:spcAft>
              <a:defRPr sz="1400">
                <a:solidFill>
                  <a:srgbClr val="00274A"/>
                </a:solidFill>
              </a:defRPr>
            </a:pPr>
            <a:r>
              <a:t>• Pós-garantia: retenção despenca de 82% para 20–40%  (Cox Automotive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6302"/>
                </a:solidFill>
              </a:rPr>
              <a:t>A Ford é a única montadora no Brasil SEM programa de fidelização pré-pago.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074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274A"/>
                </a:solidFill>
              </a:rPr>
              <a:t>Cada VIN perdido = receita recorrente de R$ 400–2.000/revisão evaporando para oficinas independentes.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577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7"/>
                </a:solidFill>
              </a:rPr>
              <a:t>CAV: reter cliente ativo = R$ 1–5 | reconquistar = R$ 25–150 | adquirir novo = R$ 80–300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ForwardService — Os 4 Pilares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🧠  INTELLIGENCE 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Quem está prestes a sair?
K-means + XGBoost + Survival Analysis
sobre 175k VINs reais Ford BR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⚡  ACTION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O que fazer, agora, automaticamente?
WhatsApp · n8n · Pulse Leads
ROI 300:1 por campanha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✨  EXPERIENCE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Por que o cliente vai querer voltar?
Ford Care (plano pré-pago)
Fluxo Simplificado (Ka/Fiesta/EcoSport)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143000"/>
            <a:ext cx="265176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123444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📊  PERFORMANCE CONSOLE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874519"/>
            <a:ext cx="265176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965960"/>
            <a:ext cx="2423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Funcionou? Quanto retornou?
Closed-Loop ROI · IHC 0-100
Flywheel — fica mais inteligente a cada ciclo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O fluxo é cíclico — cada ciclo alimenta o próximo com dados melhores (Flywheel).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Benchmarking — O que o mercado já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274A"/>
                </a:solidFill>
              </a:rPr>
              <a:t>O padrão-ouro existe — a Ford Brasil ainda não chegou lá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NADA 20 Groups
(EUA / Brasil via FENABRAVE)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Grupo de 20 dealers que se comparam entre si em 200+ KPIs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Já opera no Brasil — 52 concessionárias em 3 grupos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Benchmarking financeiro: partes, mão de obra, absorção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ForwardService adiciona: score de churn + ação automática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Nissan Dealer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30 KPIs com gamificação — espadas katana por categoria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Dashboard em tempo real por dealer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Recompensas progressivas por performance de retenção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ForwardService vai além: predição, não só medição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57600" cy="49377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27632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GM OnStar / Fidelidade Geral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6576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Conectividade veicular com alertas proativos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Recall + manutenção integrados ao app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Previsão de serviço por telemetria</a:t>
            </a:r>
          </a:p>
          <a:p>
            <a:pPr>
              <a:spcAft>
                <a:spcPts val="500"/>
              </a:spcAft>
              <a:defRPr sz="1200">
                <a:solidFill>
                  <a:srgbClr val="FFFFFF"/>
                </a:solidFill>
              </a:defRPr>
            </a:pPr>
            <a:r>
              <a:t>• Ford tem 80% da frota SEM telemetria — Fluxo Simplificado resolve isso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DIFERENCIAIS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Por que a ForwardService é impossível de replicar com um CRM genérico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LN1 — Economia do VIN (LSV)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Lifetime Service Value: Ka ~R$ 3.000 vs Ranger ~R$ 22.000. Leads priorizados por valor real, não volume.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14300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LN2 — Curva da Morte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Disparo no momento crítico por perfil — não em intervalos fixos. 4 perfis: Fiel · Econômico · Esquecido · Abandono.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14300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23444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LN3 — Rede Invertida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6459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Mapeia desertos de serviço (VINs sem dealer próximo). 145 dealers vs 521 Fiat — a conta não fecha sem expansão.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LN4 — Recall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3,4M recalls pendentes → porta de entrada. 20–35% aceitam serviços adicionais. Novo CTB bloqueia licenciamento por recall.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301752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LN5 — IHC (0–100)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Índice de Saúde da Concessionária: VIN Share 25% + Conversão 20% + NPS 15% + Resposta 10% + outros.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01752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310896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LN6 — Frota Descontinuada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52043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80% da frota são Ka/Fiesta/EcoSport. Segmenta por fase (Recente/Maduro/Antigo) com estratégia específica por ciclo.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9204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LN7 — Closed-Loop ROI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Cada ação rastreada do disparo ao resultado em R$. R$ 1 investido → R$ 300+ retornados por campanha WhatsApp.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59" y="4892040"/>
            <a:ext cx="3749039" cy="16916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LN8 — Flywheel de Dados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Mês 1: 70% precisão → Mês 12: 85% → Ano 2: 90%. Vantagem acumulativa — fica mais inteligente a cada ciclo.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892040"/>
            <a:ext cx="3749039" cy="169164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983479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LN9 — Ponte Serviço-Venda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5394959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Clientes retidos recompram: 74% vs 44%. O pós-venda vira gerador de leads de venda. LTV: até US$ 175.000/cliente.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NARRATIVA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Um dia no ForwardService — o produto 100% rodando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0352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João Silva
Ka 2014 · sumido há 11 meses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02h — O sistema re-etiqueta João: Esquecido, risco 78.
09h12 — WhatsApp automático: '20% off na revisão até sexta.'
09h47 — João responde. Termômetro cai de 78 para 71.
Sexta — Revisão feita. Etiqueta muda para Fiel. Score: 22.
O ciclo fechou. O dado alimenta o cérebro.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43000"/>
            <a:ext cx="3749039" cy="53035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Maria
Atendente · Concessionária Vila Olímpia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11h05 — App mobile, Modo Ford.
'João — Esquecido — risco 71 — começou a responder no WhatsApp.'
Maria liga, fecha agendamento pra sexta.
Marca 'agendado' no app. Sistema atualizado.
Uma ação, muitos sistemas informados.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43000"/>
            <a:ext cx="3749039" cy="5303520"/>
          </a:xfrm>
          <a:prstGeom prst="rect">
            <a:avLst/>
          </a:prstGeom>
          <a:solidFill>
            <a:srgbClr val="0D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3749039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Carlos
Diretor Regional Ford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029968"/>
            <a:ext cx="3474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</a:rPr>
              <a:t>18h00 — Painel web, Modo Ford Corporativo.
'47 esquecidos contatados · 22 agendaram · 47% conversão'
'R$ 184 mil em revisão prevista'
'9 dealers acima da meta · 3 abaixo'
Carlos vê a frota inteira, não o João individual.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274A"/>
                </a:solidFill>
              </a:rPr>
              <a:t>"Uma porta, dois lados.  Um app, infinitas conversas."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Stack Técnica + Arquitetura Macro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274A"/>
                </a:solidFill>
              </a:rPr>
              <a:t>Princípio SOA: cada caixa tem responsabilidade única e fala só com o portão central (forward-api-java).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INTELLIGENCE 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forward-ml
(Python · scikit-learn)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K-means · XGBoost · Kaplan-Meier
175k VINs × 20+ features comportamentais
Curva da Morte: 31%→22%→15%→9% (dado real)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PORTÃO 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forward-api-java
(Java 17 · Spring Boot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REST + SOAP (SOA)
JWT/RBAC · Flyway · SpringDoc
Único ponto de entrada — ninguém fala direto com o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54480"/>
            <a:ext cx="3749039" cy="224028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27632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EXPERIENCE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93852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forward-mobile
(React Native · Expo)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51460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Modo Ford (atendente Maria)
Modo Cliente (dono João)
Push notification · expo-router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PERFORMANCE 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forward-web
(SvelteKit)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79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Cockpit Ford corporativo
KPIs · Closed-Loop ROI · IHC
Read-only · Chart.js / visx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ACTION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n8n · WhatsApp
(self-hosted · Docker)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Orquestrador de ações automáticas
WhatsApp Business · 97% abertura
ROI 300:1 por campanha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977639"/>
            <a:ext cx="3749039" cy="224028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050791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96302"/>
                </a:solidFill>
              </a:rPr>
              <a:t>BANCO DE DADOS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361688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PostgreSQL 16
(Azure · Supabase/Neon)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937759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Fonte da verdade
autdit_log · vin_features
Só o Java e o segmentador batch escrevem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Roadmap — Sprint 2, 3 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949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1
24/05/2026 (atual)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ML completo: EDA + K-means + XGBoost + Survival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Backend Java: REST + SOAP + Flyway + Swagger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Mobile: 3 telas dual-mode (Ford + Cliente)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Dashboard web: Visão da frota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n8n: 1 flow WhatsApp live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Infra: Azure VM + Postgres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Pitch + Canvas + TOGAF + Vídeo (QA)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43000"/>
            <a:ext cx="3749039" cy="53949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2
Junho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Recomendador via ML (substitui regras)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Performance Console completo (drill-down, export)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Recall Gateway com 12 campanhas Senacon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Multi-canal: SMS + email + push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Closed-Loop ROI completo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Anonimização full (LGPD) em repouso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Testes automatizados end-to-end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43000"/>
            <a:ext cx="3749039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3444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SPRINT 3–4
Julho–Agosto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9202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3520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Integração com DMS (quando Ford disponibilizar)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Rede Invertida + mapeamento de desertos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Ford Care (planos pré-pagos) no app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Ponte Serviço-Venda (lead de recompra)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Admin de configuração de regras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MFA + criptografia avançada</a:t>
            </a:r>
          </a:p>
          <a:p>
            <a:pPr>
              <a:spcAft>
                <a:spcPts val="500"/>
              </a:spcAft>
              <a:defRPr sz="1150">
                <a:solidFill>
                  <a:srgbClr val="FFFFFF"/>
                </a:solidFill>
              </a:defRPr>
            </a:pPr>
            <a:r>
              <a:t>✓  Piloto real com dealer parceiro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Critérios de Qualidade — Performance · Segurança · Usabilidade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Latência API p95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300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Medido em produção Azure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Disponibilidade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≥ 99%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Docker + health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Throughput segmentador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175k VINs/dia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Cron 02h — batch diário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Falsos positivos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Threshold tunable por perfil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ML accuracy (AUC)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0,82–0,90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79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XGBoost + SHAP interpretável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1143000"/>
            <a:ext cx="3749039" cy="53949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SEGURANÇA (CYBER)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59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JWT HS256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RBAC por role + dealer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Dados pessoais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Pseudonimizado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VIN_Hash SHA1 + salt Ford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Comunicação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TLS 1.2+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HTTPS forçado em toda a infra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Auditoria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audit_log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Trilha de cada acesso/ação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Rate limiting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Bucket4j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Por IP + user — anti-DDoS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1143000"/>
            <a:ext cx="3749039" cy="5394960"/>
          </a:xfrm>
          <a:prstGeom prst="rect">
            <a:avLst/>
          </a:prstGeom>
          <a:solidFill>
            <a:srgbClr val="0D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1234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6302"/>
                </a:solidFill>
              </a:rPr>
              <a:t>USABILIDADE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1691640"/>
            <a:ext cx="3749039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66760" y="184708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NPS alvo (cliente)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1847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&gt; 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21762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Pesquisa pós-atendimento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66760" y="26243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Fluxo simplificado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9880" y="262432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Ka/EcoSport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66760" y="29535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80% da frota sem telemetria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34015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Tempo de resposta WhatsApp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340156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30 segundos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73075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n8n automático 24/7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4178807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Onboarding atendente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9880" y="4178807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&lt; 15 minutos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45079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UX dual-mode intuitivo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i18n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69880" y="49560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6302"/>
                </a:solidFill>
              </a:rPr>
              <a:t>PT-BR + 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5285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0F4F8"/>
                </a:solidFill>
              </a:rPr>
              <a:t>Expo i18n desde o dia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RISCOS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Riscos da Solução + Mitigações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715000" cy="173736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[ALTO]  Dataset sem labels prontos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82880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Pipeline re-modelado: target engenheirado (days_since_last_service &gt; 365) + clustering cego. Documentado honestamente no MODEL_CARD.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Aprovação de template WhatsApp Meta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2880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Sandbox Meta para demo. Templates aprovados previamente. Screenshot de pendência como fallback honesto.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6324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54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DealerCode → dealer sem mapeamento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749039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Agrupamento por UF via heurística. 80 dealers geocodificados (ABRADIF) para mapa de cobertura. Mapeamento exato no Sprint 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063240"/>
            <a:ext cx="5715000" cy="17373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154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[BAIXO]  Ferramenta Archi (.archimate) nova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65760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49039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Export PNG como fallback. XML do modelo entregue. Suporte do Jota com specs MD das 4 views.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5715000" cy="17373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5074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[BAIXO]  Retenção baixa mesmo com a plataforma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57784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79" y="566928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Planos Ford Care elevam retenção de 20% para 60% (3x). Fluxo Simplificado alcança 80% da frota que o app atual ignora.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983480"/>
            <a:ext cx="5715000" cy="17373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[MÉDIO]  Segurança LGPD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5577840"/>
            <a:ext cx="5715000" cy="36576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5669280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VIN_Hash SHA1 robusto (5M reversões = 0 match). Dados sensíveis como hash. audit_log completo. Política descrita no plano Cyber.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Métricas de Sucesso — O que medimos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274A"/>
                </a:solidFill>
              </a:rPr>
              <a:t>ForwardService é mensurável por design — cada real investido tem retorno rastreável (Closed-Loop ROI)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5715000" cy="2286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RETENÇÃO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VIN Share: 3,5–5% → meta 8–10% em 24 meses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Taxa de retorno pós-1ª revisão: 71% → meta 80%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+5% retenção = +25% a 95% de lucro (Bain)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Contratos Ford Care: retenção 3× (20% → 60%)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715000" cy="2286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NPS &amp; SATISFAÇÃO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5740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NPS alvo &gt; 50 (benchmark: Tesla 96, Toyota 60)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Tempo de resposta WhatsApp &lt; 30 segundos 24/7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Conversão campanha WhatsApp: 30–45%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Redução de falsos positivos &lt; 10% por perfil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023360"/>
            <a:ext cx="5715000" cy="2286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ROI FINANCEIRO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2628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1772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ROI por campanha WhatsApp: 300:1 ou mais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CAV: R$ 1–5 (ativo) vs R$ 25–150 (reconquista)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Ticket médio recall convertido: R$ 750–1.500 extra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49% do lucro bruto dealer vem do pós-venda (NADA)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5715000" cy="22860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ML / QUALIDADE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26280"/>
            <a:ext cx="57150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61772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AUC classificador: 0,82–0,90 (XGBoost+SHAP)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Silhouette K-means &gt; 0,4 (k=4 clusters)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Precisão mês 1: 70% → mês 12: 85% → ano 2: 90%</a:t>
            </a:r>
          </a:p>
          <a:p>
            <a:pPr>
              <a:spcAft>
                <a:spcPts val="300"/>
              </a:spcAft>
              <a:defRPr sz="1150">
                <a:solidFill>
                  <a:srgbClr val="FFFFFF"/>
                </a:solidFill>
              </a:defRPr>
            </a:pPr>
            <a:r>
              <a:t>• Latência API p95 &lt; 300ms · disponibilidade ≥ 99%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App Mobile — Modo Ford (Atendente) + Modo Cliente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3474720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📱 MODO FORD — Lista de Leads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19072"/>
            <a:ext cx="347472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874519"/>
            <a:ext cx="2926080" cy="411480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7744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</a:rPr>
              <a:t>Tela A — Maria vê clientes da concessionária
Ordenados por risco · Etiqueta colorida por segmento
Filtro: Esquecido | Econômico | Fiel | Abandono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7"/>
                </a:solidFill>
              </a:rPr>
              <a:t>[Screenshot do app aqui]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097280"/>
            <a:ext cx="3474720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097280"/>
            <a:ext cx="347472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📱 MODO FORD — Ficha do Cliente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19072"/>
            <a:ext cx="347472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874519"/>
            <a:ext cx="2926080" cy="411480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37744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</a:rPr>
              <a:t>Tela B — João Silva · Ka 2014
Segmento: Esquecido · Risco: 71
Ação sugerida: Ligar + WhatsApp 20% off
Histórico de revisões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7"/>
                </a:solidFill>
              </a:rPr>
              <a:t>[Screenshot do app aqui]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1097280"/>
            <a:ext cx="3474720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1097280"/>
            <a:ext cx="347472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11887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📱 MODO CLIENTE — Meu Carro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1719072"/>
            <a:ext cx="347472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874519"/>
            <a:ext cx="2926080" cy="411480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2377440"/>
            <a:ext cx="2743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</a:rPr>
              <a:t>Tela C — João vê pelo app
'Sua revisão está agendada — Sexta 09h'
6 itens recomendados · Total R$ 487
Link para WhatsApp da concessionária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47487"/>
                </a:solidFill>
              </a:rPr>
              <a:t>[Screenshot do app aqui]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Um único codebase React Native/Expo — o login define o modo. Sem dois apps para manter.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Dashboard Web + Automação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7040880" cy="539496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6766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📊 forward-web — Cockpit Corporativo Ford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7040880" cy="4572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103120" cy="10058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47 Esquecidos
contatados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828800"/>
            <a:ext cx="2103120" cy="10058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920240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22 Agendamentos
47% conversão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28800"/>
            <a:ext cx="2103120" cy="10058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59" y="1920240"/>
            <a:ext cx="1920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R$ 184k
previsto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17520"/>
            <a:ext cx="66751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</a:rPr>
              <a:t>[Screenshot dashboard aqui]
Visão da frota · Segmentos · Curva da Morte
Ranking IHC por dealer (0-100)
Filtro: região / período / categoria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143000"/>
            <a:ext cx="4434840" cy="539496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234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6302"/>
                </a:solidFill>
              </a:rPr>
              <a:t>⚡ n8n — Action 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1737360"/>
            <a:ext cx="443484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828800"/>
            <a:ext cx="4160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INBOUND: WhatsApp webhook → POST Java</a:t>
            </a:r>
          </a:p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OUTBOUND: Java → n8n → WhatsApp template</a:t>
            </a:r>
          </a:p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Rotação de templates aprovados Meta</a:t>
            </a:r>
          </a:p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Log de cada mensagem no audit_log</a:t>
            </a:r>
          </a:p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Free tier Meta: 1.000 msgs/mês (suficiente demo)</a:t>
            </a:r>
          </a:p>
          <a:p>
            <a:pPr>
              <a:spcAft>
                <a:spcPts val="400"/>
              </a:spcAft>
              <a:defRPr sz="1100">
                <a:solidFill>
                  <a:srgbClr val="00274A"/>
                </a:solidFill>
              </a:defRPr>
            </a:pPr>
            <a:r>
              <a:t>• ROI 300:1 — R$ 300 investidos → R$ 90k receita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EQUIPE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11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Equipe ForwardService — FIAP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Rodrigo Jimenez
(Roji)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[PREENCHER]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Testing/QA · Arquitetura TOGAF
Pitch · Canvas · Quadro de Valor
Coordenação dos artefatos acadêmicos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Jota Mendes
(Jota)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[PREENCHER]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Liderança técnica · Documentação
Specs TOGAF (suporte ao Roji)
Integração entre disciplinas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59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Lucca [Sobrenome]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[PREENCHER]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Machine Learning
EDA · Feature Engineering
K-means · XGBoost · Survival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1188720"/>
            <a:ext cx="2834640" cy="50292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69680" y="1188720"/>
            <a:ext cx="2834640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2600" y="1371600"/>
            <a:ext cx="1828800" cy="18288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15544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2918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Ruan [Sobrenome]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931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96302"/>
                </a:solidFill>
              </a:rPr>
              <a:t>RM: [PREENCHER]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69680" y="4315968"/>
            <a:ext cx="2834640" cy="36576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6840" y="440740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4F8"/>
                </a:solidFill>
              </a:rPr>
              <a:t>Backend Java
SOA · REST + SOAP
Spring Boot 3 · Flyway · Cyber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00274A"/>
                </a:solidFill>
              </a:rPr>
              <a:t>Disciplina: Testing, Compliance &amp; Quality Assurance — Prof. Elias Bernardo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64008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5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6302"/>
                </a:solidFill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vem depois do Sprint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155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2 — Recomendador via ML + Recall Gateway com 12 campanhas + Performance Console completo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202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385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3 — Integração DMS (quando Ford disponibilizar) + Ford Care no app + Rede Invertida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4320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743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61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Sprint 4 — Piloto real com dealer parceiro + MFA + criptografia avançada + Ponte Serviço-Venda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66160"/>
            <a:ext cx="411480" cy="411480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661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58444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Visão futura — FastAPI para o Classificador · Multi-idioma EN/ES · Admin de regras · Dark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480560"/>
            <a:ext cx="12188952" cy="2377440"/>
          </a:xfrm>
          <a:prstGeom prst="rect">
            <a:avLst/>
          </a:prstGeom>
          <a:solidFill>
            <a:srgbClr val="1E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4453128"/>
            <a:ext cx="12188952" cy="54864"/>
          </a:xfrm>
          <a:prstGeom prst="rect">
            <a:avLst/>
          </a:prstGeom>
          <a:solidFill>
            <a:srgbClr val="F963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17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577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</a:rPr>
              <a:t>ForwardService — "A Ford saiu da fábrica, não da sua vida."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4F8"/>
                </a:solidFill>
              </a:rPr>
              <a:t>Código: github.com/fwd-ford   |   Vídeo: [INSERIR LINK]   |   Dúvidas: nos encontre após a apresentação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