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88952" cy="73152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96302"/>
                </a:solidFill>
              </a:rPr>
              <a:t>FORD CHALLENGE — FIAP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ForwardService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0F4F8"/>
                </a:solidFill>
              </a:rPr>
              <a:t>Plataforma de Retenção Pós-Venda Ford Brasil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96302"/>
                </a:solidFill>
              </a:rPr>
              <a:t>Inteligência + Automação + ROI Mensurável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Rodrigo Jimenez — RM: 558148          João Victor Franco — RM: 556790
Lucca Borges — RM: 554608             Ruan Melo — RM: 557599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4F8"/>
                </a:solidFill>
              </a:rPr>
              <a:t>Testing, Compliance &amp; Quality Assurance — Prof. Elias Bernardo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Sprint 1 — Maio 2026     |     Vídeo Pitch: [INSERIR LINK APÓS GRAVAR]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problema exclusivo da Ford Brasil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468880" cy="12801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~12,4M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veículos Ford
em circulação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188720"/>
            <a:ext cx="2468880" cy="12801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234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8745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são modelos
descontinuados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1188720"/>
            <a:ext cx="2468880" cy="12801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234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18745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concessionárias
(era 283 em 2021)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188720"/>
            <a:ext cx="2468880" cy="128016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234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~4%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8745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VIN Share — só 4%
da frota usa a rede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6517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74A"/>
                </a:solidFill>
              </a:rPr>
              <a:t>A Curva da Morte — retenção colapsa a cada revisão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6324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274A"/>
                </a:solidFill>
              </a:defRPr>
            </a:pPr>
            <a:r>
              <a:t>• 1ª revisão: 31% dos VINs retornam   →   2ª: 22%   →   3ª: 15%   →   4ª: 9%</a:t>
            </a:r>
          </a:p>
          <a:p>
            <a:pPr>
              <a:spcAft>
                <a:spcPts val="400"/>
              </a:spcAft>
              <a:defRPr sz="1400">
                <a:solidFill>
                  <a:srgbClr val="00274A"/>
                </a:solidFill>
              </a:defRPr>
            </a:pPr>
            <a:r>
              <a:t>• Cada degrau perde 30–40% dos clientes anteriores  (dado real Ford, 602k eventos)</a:t>
            </a:r>
          </a:p>
          <a:p>
            <a:pPr>
              <a:spcAft>
                <a:spcPts val="400"/>
              </a:spcAft>
              <a:defRPr sz="1400">
                <a:solidFill>
                  <a:srgbClr val="00274A"/>
                </a:solidFill>
              </a:defRPr>
            </a:pPr>
            <a:r>
              <a:t>• Pós-garantia: retenção despenca de 82% para 20–40%  (Cox Automotive 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96302"/>
                </a:solidFill>
              </a:rPr>
              <a:t>A Ford é a única montadora no Brasil SEM programa de fidelização pré-pago.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074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274A"/>
                </a:solidFill>
              </a:rPr>
              <a:t>Cada VIN perdido = receita recorrente de R$ 400–2.000/revisão evaporando para oficinas independentes.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577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7"/>
                </a:solidFill>
              </a:rPr>
              <a:t>CAV: reter cliente ativo = R$ 1–5 | reconquistar = R$ 25–150 | adquirir novo = R$ 80–300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ForwardService — Os 4 Pilares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265176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34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INTELLIGENCE HUB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74519"/>
            <a:ext cx="265176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965960"/>
            <a:ext cx="2423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Quem está prestes a sair?
K-means + XGBoost + Survival Analysis
sobre 175k VINs reais Ford BR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43000"/>
            <a:ext cx="265176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234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ACTION 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265176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65960"/>
            <a:ext cx="2423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O que fazer, agora, automaticamente?
WhatsApp · n8n · Pulse Leads
ROI 300:1 por campanha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265176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234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EXPERIENCE LAYER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74519"/>
            <a:ext cx="265176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965960"/>
            <a:ext cx="2423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Por que o cliente vai querer voltar?
Ford Care (plano pré-pago)
Fluxo Simplificado (Ka/Fiesta/EcoSport)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143000"/>
            <a:ext cx="265176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234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PERFORMANCE CONSOLE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874519"/>
            <a:ext cx="265176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965960"/>
            <a:ext cx="2423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Funcionou? Quanto retornou?
Closed-Loop ROI · IHC 0-100
Flywheel — fica mais inteligente a cada ciclo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00274A"/>
                </a:solidFill>
              </a:rPr>
              <a:t>O fluxo é cíclico — cada ciclo alimenta o próximo com dados melhores (Flywheel).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Benchmarking — O que o mercado já faz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74A"/>
                </a:solidFill>
              </a:rPr>
              <a:t>O padrão-ouro existe — a Ford Brasil ainda não chegou lá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3657600" cy="4937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NADA 20 Groups
(EUA / Brasil via FENABRAVE)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31720"/>
            <a:ext cx="36576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Grupo de 20 dealers que se comparam entre si em 200+ KPIs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Já opera no Brasil — 52 concessionárias em 3 grupos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Benchmarking financeiro: partes, mão de obra, absorção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ForwardService adiciona: score de churn + ação automática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554480"/>
            <a:ext cx="3657600" cy="4937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6276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Nissan Dealer 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2331720"/>
            <a:ext cx="36576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42316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30 KPIs com gamificação — espadas katana por categoria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Dashboard em tempo real por dealer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Recompensas progressivas por performance de retenção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ForwardService vai além: predição, não só medição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3657600" cy="4937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6276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GM OnStar / Fidelidade Geral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331720"/>
            <a:ext cx="36576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42316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Conectividade veicular com alertas proativos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Recall + manutenção integrados ao app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Previsão de serviço por telemetria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Ford tem 80% da frota SEM telemetria — Fluxo Simplificado resolve isso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DIFERENCIAIS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Por que a ForwardService é impossível de replicar com um CRM genérico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3444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LN1 — Economia do VIN (LSV)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6459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Lifetime Service Value: Ka ~R$ 3.000 vs Ranger ~R$ 22.000. Leads priorizados por valor real, não volume.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143000"/>
            <a:ext cx="3749039" cy="16916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23444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LN2 — Curva da Morte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6459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Disparo no momento crítico por perfil — não em intervalos fixos. 4 perfis: Fiel · Econômico · Esquecido · Abandono.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14300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23444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LN3 — Rede Invertida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6459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Mapeia desertos de serviço (VINs sem dealer próximo). 145 dealers vs 521 Fiat — a conta não fecha sem expansão.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17520"/>
            <a:ext cx="3749039" cy="16916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31089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LN4 — Recall 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352043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3,4M recalls pendentes → porta de entrada. 20–35% aceitam serviços adicionais. Novo CTB bloqueia licenciamento por recall.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301752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1089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LN5 — IHC (0–100)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52043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Índice de Saúde da Concessionária: VIN Share 25% + Conversão 20% + NPS 15% + Resposta 10% + outros.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017520"/>
            <a:ext cx="3749039" cy="16916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1089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LN6 — Frota Descontinuada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52043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80% da frota são Ka/Fiesta/EcoSport. Segmenta por fase (Recente/Maduro/Antigo) com estratégia específica por ciclo.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9204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498347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LN7 — Closed-Loop ROI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539495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Cada ação rastreada do disparo ao resultado em R$. R$ 1 investido → R$ 300+ retornados por campanha WhatsApp.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59" y="4892040"/>
            <a:ext cx="3749039" cy="16916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498347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LN8 — Flywheel de Dados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39495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Mês 1: 70% precisão → Mês 12: 85% → Ano 2: 90%. Vantagem acumulativa — fica mais inteligente a cada ciclo.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89204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98347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LN9 — Ponte Serviço-Venda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539495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Clientes retidos recompram: 74% vs 44%. O pós-venda vira gerador de leads de venda. LTV: até US$ 175.000/cliente.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NARRATIVA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Um dia no ForwardService — o produto 100% rodando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30352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João Silva
Ka 2014 · sumido há 11 meses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29968"/>
            <a:ext cx="3474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02h — O sistema re-etiqueta João: Esquecido, risco 78.
09h12 — WhatsApp automático: '20% off na revisão até sexta.'
09h47 — João responde. Termômetro cai de 78 para 71.
Sexta — Revisão feita. Etiqueta muda para Fiel. Score: 22.
O ciclo fechou. O dado alimenta o cérebro.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43000"/>
            <a:ext cx="3749039" cy="530352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143000"/>
            <a:ext cx="3749039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Maria
Atendente · Concessionária Vila Olímpia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2029968"/>
            <a:ext cx="3474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11h05 — App mobile, Modo Ford.
'João — Esquecido — risco 71 — começou a responder no WhatsApp.'
Maria liga, fecha agendamento pra sexta.
Marca 'agendado' no app. Sistema atualizado.
Uma ação, muitos sistemas informados.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143000"/>
            <a:ext cx="3749039" cy="5303520"/>
          </a:xfrm>
          <a:prstGeom prst="rect">
            <a:avLst/>
          </a:prstGeom>
          <a:solidFill>
            <a:srgbClr val="0D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143000"/>
            <a:ext cx="3749039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Carlos
Diretor Regional Ford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029968"/>
            <a:ext cx="3474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18h00 — Painel web, Modo Ford Corporativo.
'47 esquecidos contatados · 22 agendaram · 47% conversão'
'R$ 184 mil em revisão prevista'
'9 dealers acima da meta · 3 abaixo'
Carlos vê a frota inteira, não o João individual.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274A"/>
                </a:solidFill>
              </a:rPr>
              <a:t>"Uma porta, dois lados.  Um app, infinitas conversas."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Stack Técnica + Arquitetura Macro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274A"/>
                </a:solidFill>
              </a:rPr>
              <a:t>Princípio SOA: cada caixa tem responsabilidade única e fala só com o portão central (forward-api-java).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3749039" cy="224028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6276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INTELLIGENCE 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93852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forward-ml
(Python · scikit-learn)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5146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K-means · XGBoost · Kaplan-Meier
175k VINs × 20+ features comportamentais
Curva da Morte: 31%→22%→15%→9% (dado real)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224028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6276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PORTÃO 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93852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forward-api-java
(Java 17 · Spring Boot 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5146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REST + SOAP (SOA)
JWT/RBAC · Flyway · SpringDoc
Único ponto de entrada — ninguém fala direto com o banco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554480"/>
            <a:ext cx="3749039" cy="224028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6276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EXPERIENCE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93852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forward-mobile
(React Native · Expo)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5146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Modo Ford (atendente Maria)
Modo Cliente (dono João)
Push notification · expo-router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77639"/>
            <a:ext cx="3749039" cy="22402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050791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PERFORMANCE CONSOLE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436168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forward-web
(SvelteKit)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79" y="4937759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Cockpit Ford corporativo
KPIs · Closed-Loop ROI · IHC
Read-only · Chart.js / visx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3977639"/>
            <a:ext cx="3749039" cy="22402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050791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ACTION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36168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n8n · WhatsApp
(self-hosted · Docker)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937759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Orquestrador de ações automáticas
WhatsApp Business · 97% abertura
ROI 300:1 por campanha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977639"/>
            <a:ext cx="3749039" cy="22402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4050791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BANCO DE DADOS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36168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PostgreSQL 16
(Azure · Supabase/Neon)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937759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Fonte da verdade
autdit_log · vin_features
Só o Java e o segmentador batch escrevem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Roadmap — Sprint 2, 3 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39496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SPRINT 1
24/05/2026 (atual)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520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ML completo: EDA + K-means + XGBoost + Survival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Backend Java: REST + SOAP + Flyway + Swagger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Mobile: 3 telas dual-mode (Ford + Cliente)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Dashboard web: Visão da frota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n8n: 1 flow WhatsApp live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Infra: Azure VM + Postgres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Pitch + Canvas + TOGAF + Vídeo (QA)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43000"/>
            <a:ext cx="3749039" cy="53949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SPRINT 2
Junho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011680"/>
            <a:ext cx="3520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Recomendador via ML (substitui regras)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Performance Console completo (drill-down, export)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Recall Gateway com 12 campanhas Senacon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Multi-canal: SMS + email + push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Closed-Loop ROI completo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Anonimização full (LGPD) em repouso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Testes automatizados end-to-end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143000"/>
            <a:ext cx="3749039" cy="53949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SPRINT 3–4
Julho–Agosto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11680"/>
            <a:ext cx="3520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Integração com DMS (quando Ford disponibilizar)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Rede Invertida + mapeamento de desertos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Ford Care (planos pré-pagos) no app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Ponte Serviço-Venda (lead de recompra)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Admin de configuração de regras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MFA + criptografia avançada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Piloto real com dealer parceiro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Critérios de Qualidade — Performance · Segurança · Usabilidade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3949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6302"/>
                </a:solidFill>
              </a:rPr>
              <a:t>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916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8470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Latência API p95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47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&lt; 300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1762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Medido em produção Azure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6243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Disponibilidade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243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≥ 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29535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Docker + health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4015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Throughput segmentador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4015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175k VINs/dia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373075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Cron 02h — batch diário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178807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Falsos positivos churn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7880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&lt; 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45079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Threshold tunable por perfil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49560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ML accuracy (AUC)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0,82–0,90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5285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XGBoost + SHAP interpretável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59" y="1143000"/>
            <a:ext cx="3749039" cy="53949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6302"/>
                </a:solidFill>
              </a:rPr>
              <a:t>SEGURANÇA (CYBER)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59" y="16916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18470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Autenticação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1847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JWT HS256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21762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RBAC por role + dealer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26243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Dados pessoais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6243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Pseudonimizado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29535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VIN_Hash SHA1 + salt Ford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4015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Comunicação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015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TLS 1.2+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373075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HTTPS forçado em toda a infra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178807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Auditoria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17880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audit_log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5079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Trilha de cada acesso/ação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49560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Rate limiting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Bucket4j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285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Por IP + user — anti-DDoS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1143000"/>
            <a:ext cx="3749039" cy="5394960"/>
          </a:xfrm>
          <a:prstGeom prst="rect">
            <a:avLst/>
          </a:prstGeom>
          <a:solidFill>
            <a:srgbClr val="0D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6302"/>
                </a:solidFill>
              </a:rPr>
              <a:t>USABILIDADE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16916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66760" y="18470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NPS alvo (cliente)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1847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&gt; 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21762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Pesquisa pós-atendimento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6760" y="26243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Fluxo simplificado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9880" y="26243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Ka/EcoSport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66760" y="29535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80% da frota sem telemetria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34015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Tempo de resposta WhatsApp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9880" y="34015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&lt; 30 segundos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373075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n8n automático 24/7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66760" y="4178807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Onboarding atendente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417880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&lt; 15 minutos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45079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UX dual-mode intuitivo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49560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i18n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69880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PT-BR + 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5285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Expo i18n desde o dia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RISCOS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Riscos da Solução + Mitigações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715000" cy="173736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34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[ALTO]  Dataset sem labels prontos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82880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Pipeline re-modelado: target engenheirado (days_since_last_service &gt; 365) + clustering cego. Documentado honestamente no MODEL_CARD.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715000" cy="17373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[MÉDIO]  Aprovação de template WhatsApp Meta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Sandbox Meta para demo. Templates aprovados previamente. Screenshot de pendência como fallback honesto.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63240"/>
            <a:ext cx="5715000" cy="17373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154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[MÉDIO]  DealerCode → dealer sem mapeamento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749039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Agrupamento por UF via heurística. 80 dealers geocodificados (ABRADIF) para mapa de cobertura. Mapeamento exato no Sprint 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063240"/>
            <a:ext cx="5715000" cy="17373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154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[BAIXO]  Ferramenta Archi (.archimate) nova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65760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49039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Export PNG como fallback. XML do modelo entregue. Suporte do João Victor com specs MD das 4 views.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5715000" cy="17373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79" y="5074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[BAIXO]  Retenção baixa mesmo com a plataforma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57784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566928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Planos Ford Care elevam retenção de 20% para 60% (3x). Fluxo Simplificado alcança 80% da frota que o app atual ignora.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983480"/>
            <a:ext cx="5715000" cy="17373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5074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[MÉDIO]  Segurança LGPD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557784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566928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VIN_Hash SHA1 robusto (5M reversões = 0 match). Dados sensíveis como hash. audit_log completo. Política descrita no plano Cyber.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Métricas de Sucesso — O que medimos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274A"/>
                </a:solidFill>
              </a:rPr>
              <a:t>ForwardService é mensurável por design — cada real investido tem retorno rastreável (Closed-Loop ROI)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5715000" cy="22860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RETENÇÃO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7150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VIN Share: 3,5–5% → meta 8–10% em 24 meses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Taxa de retorno pós-1ª revisão: 71% → meta 80%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+5% retenção = +25% a 95% de lucro (Bain)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Contratos Ford Care: retenção 3× (20% → 60%)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5715000" cy="2286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NPS &amp; SATISFAÇÃO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057400"/>
            <a:ext cx="57150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NPS alvo &gt; 50 (benchmark: Tesla 96, Toyota 60)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Tempo de resposta WhatsApp &lt; 30 segundos 24/7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Conversão campanha WhatsApp: 30–45%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Redução de falsos positivos &lt; 10% por perfil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023360"/>
            <a:ext cx="5715000" cy="22860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ROI FINANCEIRO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26280"/>
            <a:ext cx="57150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1772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ROI por campanha WhatsApp: 300:1 ou mais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CAV: R$ 1–5 (ativo) vs R$ 25–150 (reconquista)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Ticket médio recall convertido: R$ 750–1.500 extra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49% do lucro bruto dealer vem do pós-venda (NADA)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5715000" cy="2286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ML / QUALIDADE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26280"/>
            <a:ext cx="57150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61772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AUC classificador: 0,82–0,90 (XGBoost+SHAP)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Silhouette K-means &gt; 0,4 (k=4 clusters)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Precisão mês 1: 70% → mês 12: 85% → ano 2: 90%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Latência API p95 &lt; 300ms · disponibilidade ≥ 99%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8404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Business Model Canvas — ForwardService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" y="841248"/>
            <a:ext cx="1920240" cy="301752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88696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PARCEIROS-CHAVE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1143000"/>
            <a:ext cx="1920240" cy="18288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1170432"/>
            <a:ext cx="1783080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Ford Brasil (dataset oficial)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Meta — WhatsApp Business (97%)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Microsoft Azure (infra VM)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Supabase / Neon (Postgres 16)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FENABRAVE (dados frota BR)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OpenAI / Anthropic (futuro)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1" y="841248"/>
            <a:ext cx="1920240" cy="1435608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76272" y="88696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ATIVIDADES-CHAVE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84831" y="1143000"/>
            <a:ext cx="192024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6272" y="1170432"/>
            <a:ext cx="1783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ML scoring 175k VINs/dia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Disparos n8n + WhatsApp auto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Manter e retreinar modelos (Flywheel)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KPIs e IHC por dealer real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84831" y="2350008"/>
            <a:ext cx="1920240" cy="15087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76272" y="2395727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RECURSOS-CHAVE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84831" y="2651760"/>
            <a:ext cx="1920240" cy="18288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76272" y="2679191"/>
            <a:ext cx="178308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Dataset 602k eventos Ford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Modelos ML (3 camadas)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Infra Azure VM + Postgres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Equipe 4 devs multidisciplinar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78224" y="841248"/>
            <a:ext cx="2331720" cy="301752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78224" y="841248"/>
            <a:ext cx="233172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9663" y="8869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PROPOSTA DE VALOR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78224" y="1143000"/>
            <a:ext cx="233172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9663" y="1188720"/>
            <a:ext cx="21762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FFFFFF"/>
                </a:solidFill>
              </a:defRPr>
            </a:pPr>
            <a:r>
              <a:t>• Ford BR: VIN Share 4% → 8-10%</a:t>
            </a:r>
          </a:p>
          <a:p>
            <a:pPr>
              <a:spcAft>
                <a:spcPts val="200"/>
              </a:spcAft>
              <a:defRPr sz="800" b="1">
                <a:solidFill>
                  <a:srgbClr val="FFFFFF"/>
                </a:solidFill>
              </a:defRPr>
            </a:pPr>
            <a:r>
              <a:t>• Dealer: Pulse Leads diários por risco</a:t>
            </a:r>
          </a:p>
          <a:p>
            <a:pPr>
              <a:spcAft>
                <a:spcPts val="200"/>
              </a:spcAft>
              <a:defRPr sz="800" b="1">
                <a:solidFill>
                  <a:srgbClr val="FFFFFF"/>
                </a:solidFill>
              </a:defRPr>
            </a:pPr>
            <a:r>
              <a:t>• Cliente Ka/EcoSport: Fluxo Simplificado</a:t>
            </a:r>
          </a:p>
          <a:p>
            <a:pPr>
              <a:spcAft>
                <a:spcPts val="200"/>
              </a:spcAft>
              <a:defRPr sz="800" b="1">
                <a:solidFill>
                  <a:srgbClr val="FFFFFF"/>
                </a:solidFill>
              </a:defRPr>
            </a:pPr>
            <a:r>
              <a:t>• Cliente Ranger: Ford Care (3× retenção)</a:t>
            </a:r>
          </a:p>
          <a:p>
            <a:pPr>
              <a:spcAft>
                <a:spcPts val="200"/>
              </a:spcAft>
              <a:defRPr sz="800" b="1">
                <a:solidFill>
                  <a:srgbClr val="FFFFFF"/>
                </a:solidFill>
              </a:defRPr>
            </a:pPr>
            <a:r>
              <a:t>• Cockpit nacional em tempo real</a:t>
            </a:r>
          </a:p>
          <a:p>
            <a:pPr>
              <a:spcAft>
                <a:spcPts val="200"/>
              </a:spcAft>
              <a:defRPr sz="800" b="1">
                <a:solidFill>
                  <a:srgbClr val="FFFFFF"/>
                </a:solidFill>
              </a:defRPr>
            </a:pPr>
            <a:r>
              <a:t>• ROI 300:1 por campanha WhatsApp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83096" y="841248"/>
            <a:ext cx="1920240" cy="1435608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4536" y="88696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RELACIONAMENTO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83096" y="1143000"/>
            <a:ext cx="1920240" cy="18288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74536" y="1170432"/>
            <a:ext cx="1783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Self-service: app dual-mode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Personalizado via dealer (Maria)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WhatsApp automático 24/7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Ford Care (longo prazo pré-pago)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83096" y="2350008"/>
            <a:ext cx="1920240" cy="1508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74536" y="2395727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CANAIS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83096" y="2651760"/>
            <a:ext cx="192024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4536" y="2679191"/>
            <a:ext cx="178308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WhatsApp Business (97% abertura)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App Mobile React Native/Expo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Dashboard Web SvelteKit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n8n (email/SMS — Sprint 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76488" y="841248"/>
            <a:ext cx="3621024" cy="301752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67928" y="88696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SEGMENTOS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76488" y="1143000"/>
            <a:ext cx="3621024" cy="18288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67928" y="1170432"/>
            <a:ext cx="3483864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Ford Brasil (B2B — matriz)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145 concessionárias ativas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Donos modelos recentes (Ranger)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Donos Ka/EcoSport/Fiesta (2,5M+)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Gestores regionais Ford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4 perfis ML: Fiel/Econom/Esquec/Aband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" y="3931920"/>
            <a:ext cx="603504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2880" y="3977639"/>
            <a:ext cx="5897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ESTRUTURA DE CUSTOS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" y="4233672"/>
            <a:ext cx="603504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2880" y="4261104"/>
            <a:ext cx="5897879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Azure VM: $7-30/mês · Supabase: $0-25/mês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WhatsApp API: free 1k msgs/mês (Sprint 1)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Retrabalho ML, suporte dealers, incidentes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Treinamento atendentes: &lt;15 min/usuário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3931920"/>
            <a:ext cx="5897880" cy="18288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1072" y="3977639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96302"/>
                </a:solidFill>
              </a:rPr>
              <a:t>FONTES DE RECEITA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4233672"/>
            <a:ext cx="5897880" cy="18288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91072" y="4261104"/>
            <a:ext cx="57607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SaaS Ford Brasil: licença mensal pós-MVP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Assinatura por dealer: 145 potenciais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Ford Care: receita antecipada de revisões</a:t>
            </a:r>
          </a:p>
          <a:p>
            <a:pPr>
              <a:spcAft>
                <a:spcPts val="100"/>
              </a:spcAft>
              <a:defRPr sz="800">
                <a:solidFill>
                  <a:srgbClr val="FFFFFF"/>
                </a:solidFill>
              </a:defRPr>
            </a:pPr>
            <a:r>
              <a:t>• ROI 300:1 documentado por campanha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" y="5833872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647487"/>
                </a:solidFill>
              </a:rPr>
              <a:t>Detalhes completos (impacto de falhas + custos de qualidade): CANVAS.html / CANVAS.pdf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QUADRO DE 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Partes Interessadas — O que cada stakeholder 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058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274A"/>
                </a:solidFill>
              </a:rPr>
              <a:t>Para cada benefício: métrica de negócio (resultado) + métrica de qualidade (SLA técnico)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" y="1371600"/>
            <a:ext cx="1920240" cy="347472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14081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STAKEHOLDER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371600"/>
            <a:ext cx="3200400" cy="347472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39" y="14081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PROMESSA FORWARDSERVICE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1371600"/>
            <a:ext cx="2926080" cy="347472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59" y="14081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MÉTRICA DE NEGÓCIO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371600"/>
            <a:ext cx="2560320" cy="347472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408176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MÉTRICA DE QUALIDADE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27080" y="1371600"/>
            <a:ext cx="1097280" cy="347472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1408176"/>
            <a:ext cx="1005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" y="1737360"/>
            <a:ext cx="11887200" cy="539496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1764792"/>
            <a:ext cx="18288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274A"/>
                </a:solidFill>
              </a:rPr>
              <a:t>Ford Brasil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1764792"/>
            <a:ext cx="30632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274A"/>
                </a:solidFill>
              </a:rPr>
              <a:t>Dashboard nacional real time:
VIN Share por UF · ROI rastreável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764792"/>
            <a:ext cx="2834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56A0"/>
                </a:solidFill>
              </a:rPr>
              <a:t>VIN Share ≥ 8% em 24 meses
(base: ~3,5-5% hoje)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764792"/>
            <a:ext cx="24231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</a:rPr>
              <a:t>Disponib. ≥ 99%
Latência API p95 &lt; 300ms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0" y="1810512"/>
            <a:ext cx="1005840" cy="35661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0" y="1828800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" y="2295144"/>
            <a:ext cx="1188720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2322575"/>
            <a:ext cx="18288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274A"/>
                </a:solidFill>
              </a:rPr>
              <a:t>Gestor Regional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2322575"/>
            <a:ext cx="30632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274A"/>
                </a:solidFill>
              </a:rPr>
              <a:t>Cockpit: IHC 0-100 por dealer,
ranking e causa-raiz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2322575"/>
            <a:ext cx="2834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56A0"/>
                </a:solidFill>
              </a:rPr>
              <a:t>≥ 80% dealers acima
da meta regional de IHC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322575"/>
            <a:ext cx="24231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</a:rPr>
              <a:t>IHC atualiz. 1×/dia
Silhouette K-means &gt; 0,4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0" y="2368296"/>
            <a:ext cx="1005840" cy="35661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0" y="2386584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852928"/>
            <a:ext cx="11887200" cy="539496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" y="2880360"/>
            <a:ext cx="18288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274A"/>
                </a:solidFill>
              </a:rPr>
              <a:t>Dono de Concessionária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880360"/>
            <a:ext cx="30632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274A"/>
                </a:solidFill>
              </a:rPr>
              <a:t>Pulse Leads: lista diária
por risco + LSV automático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880360"/>
            <a:ext cx="2834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56A0"/>
                </a:solidFill>
              </a:rPr>
              <a:t>Conversão lead → revisão
≥ 35%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2880360"/>
            <a:ext cx="24231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</a:rPr>
              <a:t>Endpoint /leads &lt; 200ms
Zero leads duplicados/dia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0" y="2926080"/>
            <a:ext cx="1005840" cy="35661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0" y="294436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" y="3410712"/>
            <a:ext cx="1188720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2880" y="3438144"/>
            <a:ext cx="18288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274A"/>
                </a:solidFill>
              </a:rPr>
              <a:t>Gerente de Serviço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3438144"/>
            <a:ext cx="30632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274A"/>
                </a:solidFill>
              </a:rPr>
              <a:t>Ficha do cliente: etiqueta de
segmento + ação sugerida pelo ML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3438144"/>
            <a:ext cx="2834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56A0"/>
                </a:solidFill>
              </a:rPr>
              <a:t>Redução 40% no tempo
de priorização de contatos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438144"/>
            <a:ext cx="24231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</a:rPr>
              <a:t>AUC classificador ≥ 0,82
Falsos positivos &lt; 10%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72800" y="3483864"/>
            <a:ext cx="1005840" cy="35661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0" y="3502152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7160" y="3968496"/>
            <a:ext cx="11887200" cy="539496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3995928"/>
            <a:ext cx="18288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274A"/>
                </a:solidFill>
              </a:rPr>
              <a:t>Dono modelo descontin.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48840" y="3995928"/>
            <a:ext cx="30632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274A"/>
                </a:solidFill>
              </a:rPr>
              <a:t>Fluxo Simplificado: WhatsApp,
cadastro VIN manual, lembrete km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94960" y="3995928"/>
            <a:ext cx="2834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56A0"/>
                </a:solidFill>
              </a:rPr>
              <a:t>Reativação ≥ 15% dos VINs
inativos &gt;12 meses (1º semestre)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3995928"/>
            <a:ext cx="24231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</a:rPr>
              <a:t>Entrega WhatsApp &lt; 30s
Abertura ≥ 80%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0" y="4041648"/>
            <a:ext cx="1005840" cy="35661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72800" y="4059935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37160" y="4526279"/>
            <a:ext cx="1188720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2880" y="4553712"/>
            <a:ext cx="18288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274A"/>
                </a:solidFill>
              </a:rPr>
              <a:t>Atendente (dealer)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48840" y="4553712"/>
            <a:ext cx="30632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274A"/>
                </a:solidFill>
              </a:rPr>
              <a:t>Vista 360: histórico completo,
score, ação — uma tela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4553712"/>
            <a:ext cx="2834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56A0"/>
                </a:solidFill>
              </a:rPr>
              <a:t>NPS do atendimento ≥ 60
(benchmark setor: ~50)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4553712"/>
            <a:ext cx="24231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</a:rPr>
              <a:t>Vista 360 &lt; 1s
Onboarding &lt; 15 min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972800" y="4599431"/>
            <a:ext cx="1005840" cy="35661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972800" y="4617719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5084064"/>
            <a:ext cx="11887200" cy="539496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2880" y="5111496"/>
            <a:ext cx="18288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274A"/>
                </a:solidFill>
              </a:rPr>
              <a:t>Dono modelo recente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48840" y="5111496"/>
            <a:ext cx="30632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274A"/>
                </a:solidFill>
              </a:rPr>
              <a:t>App: revisão por km/meses,
Ford Care pré-pago, agendam. 1 toque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5111496"/>
            <a:ext cx="2834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56A0"/>
                </a:solidFill>
              </a:rPr>
              <a:t>Adoção Ford Care ≥ 20%
dos elegíveis em 12 meses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66760" y="5111496"/>
            <a:ext cx="24231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</a:rPr>
              <a:t>App carrega &lt; 2s
Push notif. &lt; 5s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972800" y="5157216"/>
            <a:ext cx="1005840" cy="35661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0" y="5175504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5641848"/>
            <a:ext cx="1188720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82880" y="5669280"/>
            <a:ext cx="18288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274A"/>
                </a:solidFill>
              </a:rPr>
              <a:t>Equipe ForwardService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48840" y="5669280"/>
            <a:ext cx="30632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274A"/>
                </a:solidFill>
              </a:rPr>
              <a:t>Flywheel: precisão cresce com uso.
SOA: cada componente evolui sozinho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94960" y="5669280"/>
            <a:ext cx="2834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56A0"/>
                </a:solidFill>
              </a:rPr>
              <a:t>Precisão ML: 70%→80%→90%
(mês 1 → 6 → ano 2)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66760" y="5669280"/>
            <a:ext cx="24231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</a:rPr>
              <a:t>Cobertura testes ≥ 70%
Deploy zero downtime (rolling)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72800" y="5715000"/>
            <a:ext cx="1005840" cy="35661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972800" y="573328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598932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647487"/>
                </a:solidFill>
              </a:rPr>
              <a:t>Documento completo com 9 stakeholders e métricas consolidadas: QUADRO_DE_VALOR.html / PDF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TOGAF / ARCHI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Arquitetura da Solução — 6 Vistas ArchiMate 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00274A"/>
                </a:solidFill>
              </a:rPr>
              <a:t>Visão · Negócio · Aplicação · Tecnologia · Requisitos de Qualidade · Monitoramento</a:t>
            </a:r>
          </a:p>
        </p:txBody>
      </p:sp>
      <p:pic>
        <p:nvPicPr>
          <p:cNvPr id="8" name="Picture 7" descr="01_motivation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417320"/>
            <a:ext cx="3749039" cy="2103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" y="3547871"/>
            <a:ext cx="3749039" cy="475488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3566159"/>
            <a:ext cx="36393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01 — Motivation
(Drivers, Stakeholders, Goals)</a:t>
            </a:r>
          </a:p>
        </p:txBody>
      </p:sp>
      <p:pic>
        <p:nvPicPr>
          <p:cNvPr id="11" name="Picture 10" descr="02_business_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1" y="1417320"/>
            <a:ext cx="3749039" cy="21031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096511" y="3547871"/>
            <a:ext cx="3749039" cy="475488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9663" y="3566159"/>
            <a:ext cx="36393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02 — Business
(Processo As-Is vs To-Be)</a:t>
            </a:r>
          </a:p>
        </p:txBody>
      </p:sp>
      <p:pic>
        <p:nvPicPr>
          <p:cNvPr id="14" name="Picture 13" descr="03_application_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3" y="1417320"/>
            <a:ext cx="3749039" cy="21031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101583" y="3547871"/>
            <a:ext cx="3749039" cy="475488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3566159"/>
            <a:ext cx="36393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03 — Application
(Componentes + Comunicações)</a:t>
            </a:r>
          </a:p>
        </p:txBody>
      </p:sp>
      <p:pic>
        <p:nvPicPr>
          <p:cNvPr id="17" name="Picture 16" descr="04_technology_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4114800"/>
            <a:ext cx="3749039" cy="21031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91440" y="6245352"/>
            <a:ext cx="3749039" cy="475488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" y="6263640"/>
            <a:ext cx="36393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04 — Technology
(Infra: Azure, Docker, TLS)</a:t>
            </a:r>
          </a:p>
        </p:txBody>
      </p:sp>
      <p:pic>
        <p:nvPicPr>
          <p:cNvPr id="20" name="Picture 19" descr="05_requirements_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6511" y="4114800"/>
            <a:ext cx="3749039" cy="21031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096511" y="6245352"/>
            <a:ext cx="3749039" cy="475488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663" y="6263640"/>
            <a:ext cx="36393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05 — Requirements
(Qualidade → Componentes)</a:t>
            </a:r>
          </a:p>
        </p:txBody>
      </p:sp>
      <p:pic>
        <p:nvPicPr>
          <p:cNvPr id="23" name="Picture 22" descr="06_monitoring_vie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583" y="4114800"/>
            <a:ext cx="3749039" cy="21031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101583" y="6245352"/>
            <a:ext cx="3749039" cy="475488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4736" y="6263640"/>
            <a:ext cx="36393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06 — Monitoring
(Observabilidade em Produção)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7395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47487"/>
                </a:solidFill>
              </a:rPr>
              <a:t>Arquivo editável: ForwardService.archimate (abre no Archi 4.x, gratuito em archimatetool.com)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EQUIPE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Equipe ForwardService — FIAP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83464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83464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371600"/>
            <a:ext cx="182880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Rodrigo Jimenez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6302"/>
                </a:solidFill>
              </a:rPr>
              <a:t>RM: 558148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15968"/>
            <a:ext cx="283464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40740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4F8"/>
                </a:solidFill>
              </a:rPr>
              <a:t>Testing/QA · Arquitetura TOGAF
Pitch · Canvas · Quadro de Valor
Coordenação dos artefatos acadêmicos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188720"/>
            <a:ext cx="283464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1188720"/>
            <a:ext cx="283464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1371600"/>
            <a:ext cx="182880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1554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3291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João Victor Franco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6302"/>
                </a:solidFill>
              </a:rPr>
              <a:t>RM: 556790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4315968"/>
            <a:ext cx="283464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440740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4F8"/>
                </a:solidFill>
              </a:rPr>
              <a:t>Liderança técnica · Documentação
Specs TOGAF (suporte ao Rodrigo)
Integração entre disciplinas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188720"/>
            <a:ext cx="283464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1188720"/>
            <a:ext cx="283464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37959" y="1371600"/>
            <a:ext cx="182880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554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291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Lucca Borges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6302"/>
                </a:solidFill>
              </a:rPr>
              <a:t>RM: 554608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4315968"/>
            <a:ext cx="283464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440740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4F8"/>
                </a:solidFill>
              </a:rPr>
              <a:t>Machine Learning
EDA · Feature Engineering
K-means · XGBoost · Survival Analysis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69680" y="1188720"/>
            <a:ext cx="283464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69680" y="1188720"/>
            <a:ext cx="283464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1371600"/>
            <a:ext cx="182880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1554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3291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Ruan Melo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6302"/>
                </a:solidFill>
              </a:rPr>
              <a:t>RM: 557599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69680" y="4315968"/>
            <a:ext cx="283464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6840" y="440740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4F8"/>
                </a:solidFill>
              </a:rPr>
              <a:t>Backend Java
SOA · REST + SOAP
Spring Boot 3 · Flyway · Cyber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00274A"/>
                </a:solidFill>
              </a:rPr>
              <a:t>Disciplina: Testing, Compliance &amp; Quality Assurance — Prof. Elias Bernardo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64008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5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vem depois do Sprint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411480" cy="41148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972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11556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Sprint 2 — Recomendador via ML + Recall Gateway com 12 campanhas + Performance Console completo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411480" cy="41148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202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385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Sprint 3 — Integração DMS (quando Ford disponibilizar) + Ford Care no app + Rede Invertida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43200"/>
            <a:ext cx="411480" cy="41148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743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61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Sprint 4 — Piloto real com dealer parceiro + MFA + criptografia avançada + Ponte Serviço-Venda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66160"/>
            <a:ext cx="411480" cy="41148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58444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Visão futura — FastAPI para o Classificador · Multi-idioma EN/ES · Admin de regras · Dark mode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480560"/>
            <a:ext cx="12188952" cy="23774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4453128"/>
            <a:ext cx="12188952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17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Obrigado!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77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</a:rPr>
              <a:t>ForwardService — "A Ford saiu da fábrica, não da sua vida."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4F8"/>
                </a:solidFill>
              </a:rPr>
              <a:t>Código: github.com/fwd-ford   |   Vídeo: [INSERIR LINK]   |   Dúvidas: nos encontre após a apresentação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